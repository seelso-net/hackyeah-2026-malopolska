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twarcie" id="{e925bd48-ea6d-17a9-bdbf-e584943844af}">
          <p14:sldIdLst>
            <p14:sldId id="256"/>
          </p14:sldIdLst>
        </p14:section>
        <p14:section name="Problem i rozwiązanie" id="{987d30e6-9e25-cd77-84a8-083dd1dd0855}">
          <p14:sldIdLst>
            <p14:sldId id="257"/>
            <p14:sldId id="258"/>
          </p14:sldIdLst>
        </p14:section>
        <p14:section name="Produkt" id="{2cfeeafe-59bf-2f3c-30ae-21d6beecf2b4}">
          <p14:sldIdLst>
            <p14:sldId id="259"/>
            <p14:sldId id="260"/>
            <p14:sldId id="261"/>
            <p14:sldId id="262"/>
            <p14:sldId id="263"/>
          </p14:sldIdLst>
        </p14:section>
        <p14:section name="AI i technologia" id="{70d51fec-0034-42f7-24b4-70efabd6e5be}">
          <p14:sldIdLst>
            <p14:sldId id="264"/>
            <p14:sldId id="265"/>
          </p14:sldIdLst>
        </p14:section>
        <p14:section name="Podsumowanie" id="{fc27df25-6b3e-529d-73c9-ce4a51e7365c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Nasz projekt odpowiada na pytanie z wyzwania: jak sprawić, żeby dobre pomysły na problemy społeczne nie ginęły. Zbudowaliśmy działającą platformę: mieszkańcy zgłaszają potrzeby, AI łączy je ze sprawdzonymi rozwiązaniami i ludźmi gotowymi działać, a każda rozwiązana sprawa uczy kolejne społeczności. Działa w przeglądarce, jako aplikacja na telefon i w trzech językach.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Sygnały o potrzebach mieszkańców giną w rozproszonych kanałach i w duplikatach. Rozwiązania, które zadziałały w jednej dzielnicy, zostają w głowach ludzi i w raportach, więc każda społeczność zaczyna od zera. A mieszkańcy, którzy nie dostają informacji zwrotnej, przestają zgłaszać.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 działa pętla. Mieszkaniec zgłasza problem w kilkadziesiąt sekund. AI rozpoznaje kategorię i pilność, łączy podobne zgłoszenia w jedną sprawę, dobiera scenariusz sprawdzony w innej społeczności i proponuje wykonawców. Moderator zatwierdza, wykonawcy działają według listy kroków, a na końcu mieszkańcy odpowiadają: czy to pomogło. Każda zamknięta sprawa ulepsza scenariusz dla kolejnej społeczności.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Maria zgłasza, że jej sąsiadka z czwartego piętra nie może wyjść z bloku bez windy. Może to po prostu powiedzieć: aplikacja zapisuje tekst na żywo. AI od razu pokazuje, jak zrozumiało zgłoszenie, i że w pobliżu jest już ta sama sprawa zgłoszona przez 17 sąsiadów. Maria dołącza do niej zamiast tworzyć duplikat.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Ewa, moderatorka, widzi kolejkę spraw posortowaną według pilności i poparcia mieszkańców. Każda sprawa ma już propozycję AI: scenariusz, który zadziałał na Starym Mieście, oraz organizacje i wolontariuszy z okolicy, każdy z uzasadnieniem. Ewa zatwierdza jednym kliknięciem albo poprawia wybór.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Kasia z Good Neighbours Foundation dostaje sprawę z pełnym kontekstem i swoimi krokami ze scenariusza. Przyjmuje ją, odhacza kroki i pisze mieszkańcom, co zadziałało: ta informacja trafia na żywo do wszystkich 18 osób, które zgłosiły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Gdy wykonawca oznaczy sprawę jako rozwiązaną, mieszkańcy dostają pytanie: czy to pomogło. Po potwierdzeniu AI przygotowuje nową wersję scenariusza, dopisując krok, który zespół Kasi odkrył w praktyce. Ewa ją publikuje i kolejna dzielnica startuje od lepszego przepisu.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 sama platforma obsłuży dzielnicę, kampus czy spółdzielnię. Kategorie, nazwy etapów, role i zasady prywatności to konfiguracja, a nie kod. W demo mamy cztery społeczności. Ola, wolontariuszka mówiąca po ukraińsku, widzi całą aplikację w swoim języku.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ma dwa tryby. Offline działa bez żadnego klucza: reguły i wektory słów wystarczą do demo. Z dowolnym modelem zgodnym z API OpenAI, także uruchomionym lokalnie, AI rozumie sens zgłoszeń w różnych językach, tłumaczy je i pisze nowe wersje scenariuszy. Model zawsze wybiera tylko spośród prawdziwych opcji, a decyzję podejmuje człowiek.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Aplikacja to Ionic React: jeden kod dla przeglądarki, PWA i Androida. API to Quarkus z PostgreSQL i pgvector do wyszukiwania podobnych spraw. Przy każdym pushu GitHub uruchamia testy jednostkowe, test całej historii przez API, test w przeglądarce każdego ekranu i każdej roli oraz test nawigacji, a potem publikuje obraz Dockera. Wdrożenie na Render to jedno kliknięcie.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nie jest makieta. Mamy 13 działających ekranów dla czterech ról, trzy języki, 31 endpointów API, cztery przykładowe społeczności i osiem scenariuszy. Cały kod jest publiczny na GitHubie, razem z instrukcją uruchomienia jednym poleceniem.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Naszym celem jest to, żeby żadna dobra praktyka nie ginęła: każda rozwiązana sprawa zostawia scenariusz dla kolejnych. Następne kroki to pilotaż w jednej gminie z urzędem i lokalnymi organizacjami, logowanie przez login.gov.pl, wspólna biblioteka scenariuszy dla regionu i mierniki efektów.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Dziękujemy. Dobre pomysły nie muszą ginąć. Kod jest publiczny, a całe demo uruchamia się jednym poleceniem.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52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59436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5486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-hackyeah-2026-malopolska/ce388cae-9842-556b-8a6b-b414ddeeeb86/scratchpad/deck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91656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64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Neighbourhood Needs · HackYeah 2026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Y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-hackyeah-2026-malopolska/ce388cae-9842-556b-8a6b-b414ddeeeb86/scratchpad/deck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91656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64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Neighbourhood Needs · HackYeah 2026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bg>
      <p:bgPr>
        <a:solidFill>
          <a:srgbClr val="0B6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-hackyeah-2026-malopolska/ce388cae-9842-556b-8a6b-b414ddeeeb86/scratchpad/deck/img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91656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64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Neighbourhood Needs · HackYeah 2026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eelso-net/hackyeah-2026-malopolska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seelso-net/hackyeah-2026-malopolska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 panel"/>
          <p:cNvSpPr/>
          <p:nvPr/>
        </p:nvSpPr>
        <p:spPr>
          <a:xfrm>
            <a:off x="6720840" y="0"/>
            <a:ext cx="5470855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Panel circle"/>
          <p:cNvSpPr/>
          <p:nvPr/>
        </p:nvSpPr>
        <p:spPr>
          <a:xfrm>
            <a:off x="9326880" y="4434840"/>
            <a:ext cx="4023360" cy="4023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Window win-queue.png" descr="Kolejka moderatorki z propozycją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320040"/>
            <a:ext cx="5120640" cy="3746930"/>
          </a:xfrm>
          <a:prstGeom prst="rect">
            <a:avLst/>
          </a:prstGeom>
        </p:spPr>
      </p:pic>
      <p:pic>
        <p:nvPicPr>
          <p:cNvPr id="5" name="Phone phone-review.png" descr="Ekran mieszkanki: AI znalazło podobną sprawę w pobliż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40280"/>
            <a:ext cx="2273295" cy="4480560"/>
          </a:xfrm>
          <a:prstGeom prst="rect">
            <a:avLst/>
          </a:prstGeom>
        </p:spPr>
      </p:pic>
      <p:pic>
        <p:nvPicPr>
          <p:cNvPr id="6" name="Phone phone-confirm.png" descr="Ekran sprawy z pytaniem: Czy to pomogło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514600"/>
            <a:ext cx="2134113" cy="4206240"/>
          </a:xfrm>
          <a:prstGeom prst="rect">
            <a:avLst/>
          </a:prstGeom>
        </p:spPr>
      </p:pic>
      <p:pic>
        <p:nvPicPr>
          <p:cNvPr id="7" name="Logo" descr="Logo Neighbourhood Nee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8" name="Brand name"/>
          <p:cNvSpPr txBox="1"/>
          <p:nvPr/>
        </p:nvSpPr>
        <p:spPr>
          <a:xfrm>
            <a:off x="1234440" y="502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Neighbourhood Needs</a:t>
            </a:r>
            <a:endParaRPr lang="en-US" sz="2000" dirty="0"/>
          </a:p>
        </p:txBody>
      </p:sp>
      <p:sp>
        <p:nvSpPr>
          <p:cNvPr id="9" name="Pill HackYeah 2026"/>
          <p:cNvSpPr txBox="1"/>
          <p:nvPr/>
        </p:nvSpPr>
        <p:spPr>
          <a:xfrm>
            <a:off x="4480560" y="585216"/>
            <a:ext cx="164592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0A2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HackYeah 2026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160020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Dobre pomysły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nie giną</a:t>
            </a:r>
            <a:endParaRPr lang="en-US" sz="60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38404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Platforma, która łączy potrzeby mieszkańców ze sprawdzonymi rozwiązaniami i ludźmi gotowymi działać</a:t>
            </a:r>
            <a:endParaRPr lang="en-US" sz="2000" dirty="0"/>
          </a:p>
        </p:txBody>
      </p:sp>
      <p:sp>
        <p:nvSpPr>
          <p:cNvPr id="12" name="Pill Web · PWA · Android"/>
          <p:cNvSpPr txBox="1"/>
          <p:nvPr/>
        </p:nvSpPr>
        <p:spPr>
          <a:xfrm>
            <a:off x="548640" y="5760720"/>
            <a:ext cx="19202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A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Web · PWA · Android</a:t>
            </a:r>
            <a:endParaRPr lang="en-US" sz="1300" dirty="0"/>
          </a:p>
        </p:txBody>
      </p:sp>
      <p:sp>
        <p:nvSpPr>
          <p:cNvPr id="13" name="Pill PL · EN · UK"/>
          <p:cNvSpPr txBox="1"/>
          <p:nvPr/>
        </p:nvSpPr>
        <p:spPr>
          <a:xfrm>
            <a:off x="2606040" y="5760720"/>
            <a:ext cx="132588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A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PL · EN · UK</a:t>
            </a:r>
            <a:endParaRPr lang="en-US" sz="1300" dirty="0"/>
          </a:p>
        </p:txBody>
      </p:sp>
      <p:sp>
        <p:nvSpPr>
          <p:cNvPr id="14" name="Pill AI offline lub LLM"/>
          <p:cNvSpPr txBox="1"/>
          <p:nvPr/>
        </p:nvSpPr>
        <p:spPr>
          <a:xfrm>
            <a:off x="4069080" y="5760720"/>
            <a:ext cx="182880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A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AI offline lub LLM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Dziś dobre pomysły giną po drodze</a:t>
            </a:r>
            <a:endParaRPr lang="en-US" sz="36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Mieszkańcy widzą, czego brakuje w okolicy. Urzędy i organizacje chcą pomagać. Brakuje tego, co ich łączy.</a:t>
            </a:r>
            <a:endParaRPr lang="en-US" sz="1700" dirty="0"/>
          </a:p>
        </p:txBody>
      </p:sp>
      <p:sp>
        <p:nvSpPr>
          <p:cNvPr id="5" name="Card Rozproszone zgłoszenia"/>
          <p:cNvSpPr/>
          <p:nvPr/>
        </p:nvSpPr>
        <p:spPr>
          <a:xfrm>
            <a:off x="548640" y="2148840"/>
            <a:ext cx="3520440" cy="315468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6" name="Circle Rozproszone zgłoszenia"/>
          <p:cNvSpPr/>
          <p:nvPr/>
        </p:nvSpPr>
        <p:spPr>
          <a:xfrm>
            <a:off x="868680" y="24688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Rozproszone zgłoszeni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619756"/>
            <a:ext cx="384048" cy="384048"/>
          </a:xfrm>
          <a:prstGeom prst="rect">
            <a:avLst/>
          </a:prstGeom>
        </p:spPr>
      </p:pic>
      <p:sp>
        <p:nvSpPr>
          <p:cNvPr id="8" name="Heading Rozproszone zgłoszenia"/>
          <p:cNvSpPr txBox="1"/>
          <p:nvPr/>
        </p:nvSpPr>
        <p:spPr>
          <a:xfrm>
            <a:off x="86868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Rozproszone zgłoszenia</a:t>
            </a:r>
            <a:endParaRPr lang="en-US" sz="1900" dirty="0"/>
          </a:p>
        </p:txBody>
      </p:sp>
      <p:sp>
        <p:nvSpPr>
          <p:cNvPr id="9" name="Text Rozproszone zgłoszenia"/>
          <p:cNvSpPr txBox="1"/>
          <p:nvPr/>
        </p:nvSpPr>
        <p:spPr>
          <a:xfrm>
            <a:off x="868680" y="38404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Telefony, maile, grupy w mediach społecznościowych. Ta sama sprawa wraca w kilkunastu duplikatach, a nikt nie widzi jej skali.</a:t>
            </a:r>
            <a:endParaRPr lang="en-US" sz="1500" dirty="0"/>
          </a:p>
        </p:txBody>
      </p:sp>
      <p:sp>
        <p:nvSpPr>
          <p:cNvPr id="10" name="Card Wiedza nie wędruje"/>
          <p:cNvSpPr/>
          <p:nvPr/>
        </p:nvSpPr>
        <p:spPr>
          <a:xfrm>
            <a:off x="4334256" y="2148840"/>
            <a:ext cx="3520440" cy="315468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1" name="Circle Wiedza nie wędruje"/>
          <p:cNvSpPr/>
          <p:nvPr/>
        </p:nvSpPr>
        <p:spPr>
          <a:xfrm>
            <a:off x="4654296" y="24688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 Wiedza nie wędruj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2619756"/>
            <a:ext cx="384048" cy="384048"/>
          </a:xfrm>
          <a:prstGeom prst="rect">
            <a:avLst/>
          </a:prstGeom>
        </p:spPr>
      </p:pic>
      <p:sp>
        <p:nvSpPr>
          <p:cNvPr id="13" name="Heading Wiedza nie wędruje"/>
          <p:cNvSpPr txBox="1"/>
          <p:nvPr/>
        </p:nvSpPr>
        <p:spPr>
          <a:xfrm>
            <a:off x="4654296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Wiedza nie wędruje</a:t>
            </a:r>
            <a:endParaRPr lang="en-US" sz="1900" dirty="0"/>
          </a:p>
        </p:txBody>
      </p:sp>
      <p:sp>
        <p:nvSpPr>
          <p:cNvPr id="14" name="Text Wiedza nie wędruje"/>
          <p:cNvSpPr txBox="1"/>
          <p:nvPr/>
        </p:nvSpPr>
        <p:spPr>
          <a:xfrm>
            <a:off x="4654296" y="38404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Rozwiązanie, które zadziałało w jednej dzielnicy, nie trafia do następnej. Każda społeczność zaczyna od zera.</a:t>
            </a:r>
            <a:endParaRPr lang="en-US" sz="1500" dirty="0"/>
          </a:p>
        </p:txBody>
      </p:sp>
      <p:sp>
        <p:nvSpPr>
          <p:cNvPr id="15" name="Card Brak informacji zwrotnej"/>
          <p:cNvSpPr/>
          <p:nvPr/>
        </p:nvSpPr>
        <p:spPr>
          <a:xfrm>
            <a:off x="8119872" y="2148840"/>
            <a:ext cx="3520440" cy="315468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6" name="Circle Brak informacji zwrotnej"/>
          <p:cNvSpPr/>
          <p:nvPr/>
        </p:nvSpPr>
        <p:spPr>
          <a:xfrm>
            <a:off x="8439912" y="24688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Brak informacji zwrotnej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88" y="2619756"/>
            <a:ext cx="384048" cy="384048"/>
          </a:xfrm>
          <a:prstGeom prst="rect">
            <a:avLst/>
          </a:prstGeom>
        </p:spPr>
      </p:pic>
      <p:sp>
        <p:nvSpPr>
          <p:cNvPr id="18" name="Heading Brak informacji zwrotnej"/>
          <p:cNvSpPr txBox="1"/>
          <p:nvPr/>
        </p:nvSpPr>
        <p:spPr>
          <a:xfrm>
            <a:off x="8439912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Brak informacji zwrotnej</a:t>
            </a:r>
            <a:endParaRPr lang="en-US" sz="1900" dirty="0"/>
          </a:p>
        </p:txBody>
      </p:sp>
      <p:sp>
        <p:nvSpPr>
          <p:cNvPr id="19" name="Text Brak informacji zwrotnej"/>
          <p:cNvSpPr txBox="1"/>
          <p:nvPr/>
        </p:nvSpPr>
        <p:spPr>
          <a:xfrm>
            <a:off x="8439912" y="38404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Zgłaszający nie wiedzą, co dalej, i przestają zgłaszać. Seniorzy i osoby słabo mówiące po polsku zostają z boku.</a:t>
            </a:r>
            <a:endParaRPr lang="en-US" sz="1500" dirty="0"/>
          </a:p>
        </p:txBody>
      </p:sp>
      <p:sp>
        <p:nvSpPr>
          <p:cNvPr id="20" name="Punchline"/>
          <p:cNvSpPr txBox="1"/>
          <p:nvPr/>
        </p:nvSpPr>
        <p:spPr>
          <a:xfrm>
            <a:off x="548640" y="5577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Ludzie gotowi pomóc często nie wiedzą o potrzebie tuż obok.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4"/>
                </a:solidFill>
              </a:rPr>
              <a:t>ROZWIĄZANIE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Od zgłoszenia do lepszego scenariusza</a:t>
            </a:r>
            <a:endParaRPr lang="en-US" sz="3600" dirty="0"/>
          </a:p>
        </p:txBody>
      </p:sp>
      <p:sp>
        <p:nvSpPr>
          <p:cNvPr id="4" name="Circle 1. Zgłoś"/>
          <p:cNvSpPr/>
          <p:nvPr/>
        </p:nvSpPr>
        <p:spPr>
          <a:xfrm>
            <a:off x="1120140" y="1783080"/>
            <a:ext cx="914400" cy="9144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Icon 1. Zgłoś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2011680"/>
            <a:ext cx="457200" cy="457200"/>
          </a:xfrm>
          <a:prstGeom prst="rect">
            <a:avLst/>
          </a:prstGeom>
        </p:spPr>
      </p:pic>
      <p:sp>
        <p:nvSpPr>
          <p:cNvPr id="6" name="Step 1. Zgłoś"/>
          <p:cNvSpPr txBox="1"/>
          <p:nvPr/>
        </p:nvSpPr>
        <p:spPr>
          <a:xfrm>
            <a:off x="548640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1. Zgłoś</a:t>
            </a:r>
            <a:endParaRPr lang="en-US" sz="1700" dirty="0"/>
          </a:p>
        </p:txBody>
      </p:sp>
      <p:sp>
        <p:nvSpPr>
          <p:cNvPr id="7" name="Step text 1. Zgłoś"/>
          <p:cNvSpPr txBox="1"/>
          <p:nvPr/>
        </p:nvSpPr>
        <p:spPr>
          <a:xfrm>
            <a:off x="548640" y="354787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Głosem, tekstem lub zdjęciem, w swoim języku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144268" y="2240280"/>
            <a:ext cx="1124712" cy="0"/>
          </a:xfrm>
          <a:prstGeom prst="line">
            <a:avLst/>
          </a:prstGeom>
          <a:noFill/>
          <a:ln w="25400">
            <a:solidFill>
              <a:srgbClr val="E3F1ED"/>
            </a:solidFill>
            <a:prstDash val="solid"/>
            <a:tailEnd type="triangle"/>
          </a:ln>
        </p:spPr>
      </p:sp>
      <p:sp>
        <p:nvSpPr>
          <p:cNvPr id="9" name="Circle 2. AI łączy i dobiera"/>
          <p:cNvSpPr/>
          <p:nvPr/>
        </p:nvSpPr>
        <p:spPr>
          <a:xfrm>
            <a:off x="3378708" y="1783080"/>
            <a:ext cx="914400" cy="9144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Icon 2. AI łączy i dobier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08" y="2011680"/>
            <a:ext cx="457200" cy="457200"/>
          </a:xfrm>
          <a:prstGeom prst="rect">
            <a:avLst/>
          </a:prstGeom>
        </p:spPr>
      </p:pic>
      <p:sp>
        <p:nvSpPr>
          <p:cNvPr id="11" name="Step 2. AI łączy i dobiera"/>
          <p:cNvSpPr txBox="1"/>
          <p:nvPr/>
        </p:nvSpPr>
        <p:spPr>
          <a:xfrm>
            <a:off x="2807208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2. AI łączy i dobiera</a:t>
            </a:r>
            <a:endParaRPr lang="en-US" sz="1700" dirty="0"/>
          </a:p>
        </p:txBody>
      </p:sp>
      <p:sp>
        <p:nvSpPr>
          <p:cNvPr id="12" name="Step text 2. AI łączy i dobiera"/>
          <p:cNvSpPr txBox="1"/>
          <p:nvPr/>
        </p:nvSpPr>
        <p:spPr>
          <a:xfrm>
            <a:off x="2807208" y="354787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Podobne zgłoszenia w jedną sprawę, sprawdzony scenariusz i wykonawców</a:t>
            </a:r>
            <a:endParaRPr lang="en-US" sz="1400" dirty="0"/>
          </a:p>
        </p:txBody>
      </p:sp>
      <p:sp>
        <p:nvSpPr>
          <p:cNvPr id="13" name="Arrow 2"/>
          <p:cNvSpPr/>
          <p:nvPr/>
        </p:nvSpPr>
        <p:spPr>
          <a:xfrm>
            <a:off x="4402836" y="2240280"/>
            <a:ext cx="1124712" cy="0"/>
          </a:xfrm>
          <a:prstGeom prst="line">
            <a:avLst/>
          </a:prstGeom>
          <a:noFill/>
          <a:ln w="25400">
            <a:solidFill>
              <a:srgbClr val="E3F1ED"/>
            </a:solidFill>
            <a:prstDash val="solid"/>
            <a:tailEnd type="triangle"/>
          </a:ln>
        </p:spPr>
      </p:sp>
      <p:sp>
        <p:nvSpPr>
          <p:cNvPr id="14" name="Circle 3. Moderator zatwierdza"/>
          <p:cNvSpPr/>
          <p:nvPr/>
        </p:nvSpPr>
        <p:spPr>
          <a:xfrm>
            <a:off x="5637276" y="1783080"/>
            <a:ext cx="914400" cy="9144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con 3. Moderator zatwierdz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2011680"/>
            <a:ext cx="457200" cy="457200"/>
          </a:xfrm>
          <a:prstGeom prst="rect">
            <a:avLst/>
          </a:prstGeom>
        </p:spPr>
      </p:pic>
      <p:sp>
        <p:nvSpPr>
          <p:cNvPr id="16" name="Step 3. Moderator zatwierdza"/>
          <p:cNvSpPr txBox="1"/>
          <p:nvPr/>
        </p:nvSpPr>
        <p:spPr>
          <a:xfrm>
            <a:off x="5065776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3. Moderator zatwierdza</a:t>
            </a:r>
            <a:endParaRPr lang="en-US" sz="1700" dirty="0"/>
          </a:p>
        </p:txBody>
      </p:sp>
      <p:sp>
        <p:nvSpPr>
          <p:cNvPr id="17" name="Step text 3. Moderator zatwierdza"/>
          <p:cNvSpPr txBox="1"/>
          <p:nvPr/>
        </p:nvSpPr>
        <p:spPr>
          <a:xfrm>
            <a:off x="5065776" y="354787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Jednym kliknięciem albo z poprawkami: decyduje człowiek</a:t>
            </a:r>
            <a:endParaRPr lang="en-US" sz="1400" dirty="0"/>
          </a:p>
        </p:txBody>
      </p:sp>
      <p:sp>
        <p:nvSpPr>
          <p:cNvPr id="18" name="Arrow 3"/>
          <p:cNvSpPr/>
          <p:nvPr/>
        </p:nvSpPr>
        <p:spPr>
          <a:xfrm>
            <a:off x="6661404" y="2240280"/>
            <a:ext cx="1124712" cy="0"/>
          </a:xfrm>
          <a:prstGeom prst="line">
            <a:avLst/>
          </a:prstGeom>
          <a:noFill/>
          <a:ln w="25400">
            <a:solidFill>
              <a:srgbClr val="E3F1ED"/>
            </a:solidFill>
            <a:prstDash val="solid"/>
            <a:tailEnd type="triangle"/>
          </a:ln>
        </p:spPr>
      </p:sp>
      <p:sp>
        <p:nvSpPr>
          <p:cNvPr id="19" name="Circle 4. Wykonawcy działają"/>
          <p:cNvSpPr/>
          <p:nvPr/>
        </p:nvSpPr>
        <p:spPr>
          <a:xfrm>
            <a:off x="7895844" y="1783080"/>
            <a:ext cx="914400" cy="9144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" name="Icon 4. Wykonawcy działają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444" y="2011680"/>
            <a:ext cx="457200" cy="457200"/>
          </a:xfrm>
          <a:prstGeom prst="rect">
            <a:avLst/>
          </a:prstGeom>
        </p:spPr>
      </p:pic>
      <p:sp>
        <p:nvSpPr>
          <p:cNvPr id="21" name="Step 4. Wykonawcy działają"/>
          <p:cNvSpPr txBox="1"/>
          <p:nvPr/>
        </p:nvSpPr>
        <p:spPr>
          <a:xfrm>
            <a:off x="7324344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4. Wykonawcy działają</a:t>
            </a:r>
            <a:endParaRPr lang="en-US" sz="1700" dirty="0"/>
          </a:p>
        </p:txBody>
      </p:sp>
      <p:sp>
        <p:nvSpPr>
          <p:cNvPr id="22" name="Step text 4. Wykonawcy działają"/>
          <p:cNvSpPr txBox="1"/>
          <p:nvPr/>
        </p:nvSpPr>
        <p:spPr>
          <a:xfrm>
            <a:off x="7324344" y="354787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Lista kroków, aktualizacje ze zdjęciami, postęp na żywo</a:t>
            </a:r>
            <a:endParaRPr lang="en-US" sz="1400" dirty="0"/>
          </a:p>
        </p:txBody>
      </p:sp>
      <p:sp>
        <p:nvSpPr>
          <p:cNvPr id="23" name="Arrow 4"/>
          <p:cNvSpPr/>
          <p:nvPr/>
        </p:nvSpPr>
        <p:spPr>
          <a:xfrm>
            <a:off x="8919972" y="2240280"/>
            <a:ext cx="1124712" cy="0"/>
          </a:xfrm>
          <a:prstGeom prst="line">
            <a:avLst/>
          </a:prstGeom>
          <a:noFill/>
          <a:ln w="25400">
            <a:solidFill>
              <a:srgbClr val="E3F1ED"/>
            </a:solidFill>
            <a:prstDash val="solid"/>
            <a:tailEnd type="triangle"/>
          </a:ln>
        </p:spPr>
      </p:sp>
      <p:sp>
        <p:nvSpPr>
          <p:cNvPr id="24" name="Circle 5. „Czy to pomogło?”"/>
          <p:cNvSpPr/>
          <p:nvPr/>
        </p:nvSpPr>
        <p:spPr>
          <a:xfrm>
            <a:off x="10154412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 5. „Czy to pomogło?”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011680"/>
            <a:ext cx="457200" cy="457200"/>
          </a:xfrm>
          <a:prstGeom prst="rect">
            <a:avLst/>
          </a:prstGeom>
        </p:spPr>
      </p:pic>
      <p:sp>
        <p:nvSpPr>
          <p:cNvPr id="26" name="Step 5. „Czy to pomogło?”"/>
          <p:cNvSpPr txBox="1"/>
          <p:nvPr/>
        </p:nvSpPr>
        <p:spPr>
          <a:xfrm>
            <a:off x="9582912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5. „Czy to pomogło?”</a:t>
            </a:r>
            <a:endParaRPr lang="en-US" sz="1700" dirty="0"/>
          </a:p>
        </p:txBody>
      </p:sp>
      <p:sp>
        <p:nvSpPr>
          <p:cNvPr id="27" name="Step text 5. „Czy to pomogło?”"/>
          <p:cNvSpPr txBox="1"/>
          <p:nvPr/>
        </p:nvSpPr>
        <p:spPr>
          <a:xfrm>
            <a:off x="9582912" y="354787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Mieszkańcy potwierdzają, a AI ulepsza scenariusz</a:t>
            </a:r>
            <a:endParaRPr lang="en-US" sz="1400" dirty="0"/>
          </a:p>
        </p:txBody>
      </p:sp>
      <p:sp>
        <p:nvSpPr>
          <p:cNvPr id="28" name="Loop down"/>
          <p:cNvSpPr/>
          <p:nvPr/>
        </p:nvSpPr>
        <p:spPr>
          <a:xfrm>
            <a:off x="10611612" y="4572000"/>
            <a:ext cx="0" cy="566928"/>
          </a:xfrm>
          <a:prstGeom prst="line">
            <a:avLst/>
          </a:prstGeom>
          <a:noFill/>
          <a:ln w="31750">
            <a:solidFill>
              <a:srgbClr val="F0A23A"/>
            </a:solidFill>
            <a:prstDash val="solid"/>
          </a:ln>
        </p:spPr>
      </p:sp>
      <p:sp>
        <p:nvSpPr>
          <p:cNvPr id="29" name="Loop back"/>
          <p:cNvSpPr/>
          <p:nvPr/>
        </p:nvSpPr>
        <p:spPr>
          <a:xfrm>
            <a:off x="1577340" y="5138928"/>
            <a:ext cx="9034272" cy="0"/>
          </a:xfrm>
          <a:prstGeom prst="line">
            <a:avLst/>
          </a:prstGeom>
          <a:noFill/>
          <a:ln w="31750">
            <a:solidFill>
              <a:srgbClr val="F0A23A"/>
            </a:solidFill>
            <a:prstDash val="solid"/>
          </a:ln>
        </p:spPr>
      </p:sp>
      <p:sp>
        <p:nvSpPr>
          <p:cNvPr id="30" name="Loop up"/>
          <p:cNvSpPr/>
          <p:nvPr/>
        </p:nvSpPr>
        <p:spPr>
          <a:xfrm>
            <a:off x="1577340" y="4572000"/>
            <a:ext cx="0" cy="566928"/>
          </a:xfrm>
          <a:prstGeom prst="line">
            <a:avLst/>
          </a:prstGeom>
          <a:noFill/>
          <a:ln w="31750">
            <a:solidFill>
              <a:srgbClr val="F0A23A"/>
            </a:solidFill>
            <a:prstDash val="solid"/>
            <a:headEnd type="triangle"/>
          </a:ln>
        </p:spPr>
      </p:sp>
      <p:sp>
        <p:nvSpPr>
          <p:cNvPr id="31" name="Loop label"/>
          <p:cNvSpPr txBox="1"/>
          <p:nvPr/>
        </p:nvSpPr>
        <p:spPr>
          <a:xfrm>
            <a:off x="2898648" y="4928616"/>
            <a:ext cx="640080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rgbClr val="F0A2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Każda zamknięta sprawa ulepsza scenariusz dla kolejnej społeczności</a:t>
            </a:r>
            <a:endParaRPr lang="en-US" sz="1500" dirty="0"/>
          </a:p>
        </p:txBody>
      </p:sp>
      <p:sp>
        <p:nvSpPr>
          <p:cNvPr id="32" name="Principle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AI tylko proponuje. Na każdym etapie decyduje człowiek.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MIESZKANIEC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Zgłoszenie w kilkadziesiąt sekund</a:t>
            </a:r>
            <a:endParaRPr lang="en-US" sz="3600" dirty="0"/>
          </a:p>
        </p:txBody>
      </p:sp>
      <p:sp>
        <p:nvSpPr>
          <p:cNvPr id="4" name="Circle LuMic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LuM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1756562"/>
            <a:ext cx="281635" cy="281635"/>
          </a:xfrm>
          <a:prstGeom prst="rect">
            <a:avLst/>
          </a:prstGeom>
        </p:spPr>
      </p:pic>
      <p:sp>
        <p:nvSpPr>
          <p:cNvPr id="6" name="Heading Głos, tekst albo zdjęcie"/>
          <p:cNvSpPr txBox="1"/>
          <p:nvPr/>
        </p:nvSpPr>
        <p:spPr>
          <a:xfrm>
            <a:off x="123444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Głos, tekst albo zdjęcie</a:t>
            </a:r>
            <a:endParaRPr lang="en-US" sz="1700" dirty="0"/>
          </a:p>
        </p:txBody>
      </p:sp>
      <p:sp>
        <p:nvSpPr>
          <p:cNvPr id="7" name="Text Głos, tekst albo zdjęcie"/>
          <p:cNvSpPr txBox="1"/>
          <p:nvPr/>
        </p:nvSpPr>
        <p:spPr>
          <a:xfrm>
            <a:off x="1234440" y="19933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Transkrypcja na żywo, miejsce z mapy, można anonimowo</a:t>
            </a:r>
            <a:endParaRPr lang="en-US" sz="1400" dirty="0"/>
          </a:p>
        </p:txBody>
      </p:sp>
      <p:sp>
        <p:nvSpPr>
          <p:cNvPr id="8" name="Circle LuSparkles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LuSparkl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2808122"/>
            <a:ext cx="281635" cy="281635"/>
          </a:xfrm>
          <a:prstGeom prst="rect">
            <a:avLst/>
          </a:prstGeom>
        </p:spPr>
      </p:pic>
      <p:sp>
        <p:nvSpPr>
          <p:cNvPr id="10" name="Heading AI czyta zgłoszenie"/>
          <p:cNvSpPr txBox="1"/>
          <p:nvPr/>
        </p:nvSpPr>
        <p:spPr>
          <a:xfrm>
            <a:off x="1234440" y="2679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czyta zgłoszenie</a:t>
            </a:r>
            <a:endParaRPr lang="en-US" sz="1700" dirty="0"/>
          </a:p>
        </p:txBody>
      </p:sp>
      <p:sp>
        <p:nvSpPr>
          <p:cNvPr id="11" name="Text AI czyta zgłoszenie"/>
          <p:cNvSpPr txBox="1"/>
          <p:nvPr/>
        </p:nvSpPr>
        <p:spPr>
          <a:xfrm>
            <a:off x="1234440" y="30449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Kategoria, pilność i podobna sprawa w pobliżu, do której można dołączyć</a:t>
            </a:r>
            <a:endParaRPr lang="en-US" sz="1400" dirty="0"/>
          </a:p>
        </p:txBody>
      </p:sp>
      <p:sp>
        <p:nvSpPr>
          <p:cNvPr id="12" name="Circle LuHeartHandshake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LuHeartHandsh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3859682"/>
            <a:ext cx="281635" cy="281635"/>
          </a:xfrm>
          <a:prstGeom prst="rect">
            <a:avLst/>
          </a:prstGeom>
        </p:spPr>
      </p:pic>
      <p:sp>
        <p:nvSpPr>
          <p:cNvPr id="14" name="Heading „Mnie też” i „Mogę pomóc”"/>
          <p:cNvSpPr txBox="1"/>
          <p:nvPr/>
        </p:nvSpPr>
        <p:spPr>
          <a:xfrm>
            <a:off x="1234440" y="3730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„Mnie też” i „Mogę pomóc”</a:t>
            </a:r>
            <a:endParaRPr lang="en-US" sz="1700" dirty="0"/>
          </a:p>
        </p:txBody>
      </p:sp>
      <p:sp>
        <p:nvSpPr>
          <p:cNvPr id="15" name="Text „Mnie też” i „Mogę pomóc”"/>
          <p:cNvSpPr txBox="1"/>
          <p:nvPr/>
        </p:nvSpPr>
        <p:spPr>
          <a:xfrm>
            <a:off x="1234440" y="40965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Sąsiedzi popierają sprawy i zgłaszają się do pomocy</a:t>
            </a:r>
            <a:endParaRPr lang="en-US" sz="1400" dirty="0"/>
          </a:p>
        </p:txBody>
      </p:sp>
      <p:sp>
        <p:nvSpPr>
          <p:cNvPr id="16" name="Circle LuLanguages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LuLanguage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4911242"/>
            <a:ext cx="281635" cy="281635"/>
          </a:xfrm>
          <a:prstGeom prst="rect">
            <a:avLst/>
          </a:prstGeom>
        </p:spPr>
      </p:pic>
      <p:sp>
        <p:nvSpPr>
          <p:cNvPr id="18" name="Heading Polski, angielski, ukraiński"/>
          <p:cNvSpPr txBox="1"/>
          <p:nvPr/>
        </p:nvSpPr>
        <p:spPr>
          <a:xfrm>
            <a:off x="1234440" y="4782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Polski, angielski, ukraiński</a:t>
            </a:r>
            <a:endParaRPr lang="en-US" sz="1700" dirty="0"/>
          </a:p>
        </p:txBody>
      </p:sp>
      <p:sp>
        <p:nvSpPr>
          <p:cNvPr id="19" name="Text Polski, angielski, ukraiński"/>
          <p:cNvSpPr txBox="1"/>
          <p:nvPr/>
        </p:nvSpPr>
        <p:spPr>
          <a:xfrm>
            <a:off x="1234440" y="51480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Interfejs w języku mieszkańca, treści tłumaczy AI</a:t>
            </a:r>
            <a:endParaRPr lang="en-US" sz="1400" dirty="0"/>
          </a:p>
        </p:txBody>
      </p:sp>
      <p:pic>
        <p:nvPicPr>
          <p:cNvPr id="20" name="Phone phone-map.png" descr="Mapa potrzeb, pomysłów i inicjatyw w okolic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371600"/>
            <a:ext cx="2319688" cy="4572000"/>
          </a:xfrm>
          <a:prstGeom prst="rect">
            <a:avLst/>
          </a:prstGeom>
        </p:spPr>
      </p:pic>
      <p:sp>
        <p:nvSpPr>
          <p:cNvPr id="21" name="Caption Mapa okolicy"/>
          <p:cNvSpPr txBox="1"/>
          <p:nvPr/>
        </p:nvSpPr>
        <p:spPr>
          <a:xfrm>
            <a:off x="5120640" y="5870448"/>
            <a:ext cx="2319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Mapa okolicy</a:t>
            </a:r>
            <a:endParaRPr lang="en-US" sz="1200" dirty="0"/>
          </a:p>
        </p:txBody>
      </p:sp>
      <p:pic>
        <p:nvPicPr>
          <p:cNvPr id="22" name="Phone phone-report.png" descr="Nowe zgłoszenie głosem lub tekste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1371600"/>
            <a:ext cx="2319688" cy="4572000"/>
          </a:xfrm>
          <a:prstGeom prst="rect">
            <a:avLst/>
          </a:prstGeom>
        </p:spPr>
      </p:pic>
      <p:sp>
        <p:nvSpPr>
          <p:cNvPr id="23" name="Caption Nowe zgłoszenie"/>
          <p:cNvSpPr txBox="1"/>
          <p:nvPr/>
        </p:nvSpPr>
        <p:spPr>
          <a:xfrm>
            <a:off x="7360920" y="5870448"/>
            <a:ext cx="2319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Nowe zgłoszenie</a:t>
            </a:r>
            <a:endParaRPr lang="en-US" sz="1200" dirty="0"/>
          </a:p>
        </p:txBody>
      </p:sp>
      <p:pic>
        <p:nvPicPr>
          <p:cNvPr id="24" name="Phone phone-review.png" descr="AI rozpoznało zgłoszenie i znalazło podobną sprawę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1371600"/>
            <a:ext cx="2319688" cy="4572000"/>
          </a:xfrm>
          <a:prstGeom prst="rect">
            <a:avLst/>
          </a:prstGeom>
        </p:spPr>
      </p:pic>
      <p:sp>
        <p:nvSpPr>
          <p:cNvPr id="25" name="Caption AI rozpoznaje sprawę"/>
          <p:cNvSpPr txBox="1"/>
          <p:nvPr/>
        </p:nvSpPr>
        <p:spPr>
          <a:xfrm>
            <a:off x="9601200" y="5870448"/>
            <a:ext cx="2319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AI rozpoznaje sprawę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MODERATOR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Propozycja AI gotowa, decyduje człowiek</a:t>
            </a:r>
            <a:endParaRPr lang="en-US" sz="3600" dirty="0"/>
          </a:p>
        </p:txBody>
      </p:sp>
      <p:pic>
        <p:nvPicPr>
          <p:cNvPr id="4" name="Window win-queue.png" descr="Kolejka moderatorki: sprawy według pilności i propozycja AI dla sprawy senioró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6583680" cy="4817481"/>
          </a:xfrm>
          <a:prstGeom prst="rect">
            <a:avLst/>
          </a:prstGeom>
        </p:spPr>
      </p:pic>
      <p:sp>
        <p:nvSpPr>
          <p:cNvPr id="5" name="Number 1"/>
          <p:cNvSpPr txBox="1"/>
          <p:nvPr/>
        </p:nvSpPr>
        <p:spPr>
          <a:xfrm>
            <a:off x="7178040" y="1691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Heading Kolejka według pilności"/>
          <p:cNvSpPr txBox="1"/>
          <p:nvPr/>
        </p:nvSpPr>
        <p:spPr>
          <a:xfrm>
            <a:off x="7818120" y="167335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Kolejka według pilności</a:t>
            </a:r>
            <a:endParaRPr lang="en-US" sz="1700" dirty="0"/>
          </a:p>
        </p:txBody>
      </p:sp>
      <p:sp>
        <p:nvSpPr>
          <p:cNvPr id="7" name="Text Kolejka według pilności"/>
          <p:cNvSpPr txBox="1"/>
          <p:nvPr/>
        </p:nvSpPr>
        <p:spPr>
          <a:xfrm>
            <a:off x="7818120" y="2039112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Sprawy posortowane według pilności i poparcia, każda z gotową propozycją AI.</a:t>
            </a:r>
            <a:endParaRPr lang="en-US" sz="1400" dirty="0"/>
          </a:p>
        </p:txBody>
      </p:sp>
      <p:sp>
        <p:nvSpPr>
          <p:cNvPr id="8" name="Number 2"/>
          <p:cNvSpPr txBox="1"/>
          <p:nvPr/>
        </p:nvSpPr>
        <p:spPr>
          <a:xfrm>
            <a:off x="7178040" y="3063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Heading Wszystkie głosy w jednym miejscu"/>
          <p:cNvSpPr txBox="1"/>
          <p:nvPr/>
        </p:nvSpPr>
        <p:spPr>
          <a:xfrm>
            <a:off x="7818120" y="304495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Wszystkie głosy w jednym miejscu</a:t>
            </a:r>
            <a:endParaRPr lang="en-US" sz="1700" dirty="0"/>
          </a:p>
        </p:txBody>
      </p:sp>
      <p:sp>
        <p:nvSpPr>
          <p:cNvPr id="10" name="Text Wszystkie głosy w jednym miejscu"/>
          <p:cNvSpPr txBox="1"/>
          <p:nvPr/>
        </p:nvSpPr>
        <p:spPr>
          <a:xfrm>
            <a:off x="7818120" y="3410712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18 zgłoszeń na mapie i oryginalne słowa mieszkańców w jednej sprawie.</a:t>
            </a:r>
            <a:endParaRPr lang="en-US" sz="1400" dirty="0"/>
          </a:p>
        </p:txBody>
      </p:sp>
      <p:sp>
        <p:nvSpPr>
          <p:cNvPr id="11" name="Number 3"/>
          <p:cNvSpPr txBox="1"/>
          <p:nvPr/>
        </p:nvSpPr>
        <p:spPr>
          <a:xfrm>
            <a:off x="7178040" y="4434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Heading Gotowy plan z uzasadnieniem"/>
          <p:cNvSpPr txBox="1"/>
          <p:nvPr/>
        </p:nvSpPr>
        <p:spPr>
          <a:xfrm>
            <a:off x="7818120" y="441655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Gotowy plan z uzasadnieniem</a:t>
            </a:r>
            <a:endParaRPr lang="en-US" sz="1700" dirty="0"/>
          </a:p>
        </p:txBody>
      </p:sp>
      <p:sp>
        <p:nvSpPr>
          <p:cNvPr id="13" name="Text Gotowy plan z uzasadnieniem"/>
          <p:cNvSpPr txBox="1"/>
          <p:nvPr/>
        </p:nvSpPr>
        <p:spPr>
          <a:xfrm>
            <a:off x="7818120" y="4782312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Scenariusz sprawdzony na Starym Mieście i wykonawcy z powodem wyboru. Nic nie wychodzi bez zatwierdzenia.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WYKONAWCA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Plan działania zamiast samego zgłoszenia</a:t>
            </a:r>
            <a:endParaRPr lang="en-US" sz="3600" dirty="0"/>
          </a:p>
        </p:txBody>
      </p:sp>
      <p:pic>
        <p:nvPicPr>
          <p:cNvPr id="4" name="Phone phone-doer-offer.png" descr="Skrzynka wykonawcy z nową sprawą do przyję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2319688" cy="4572000"/>
          </a:xfrm>
          <a:prstGeom prst="rect">
            <a:avLst/>
          </a:prstGeom>
        </p:spPr>
      </p:pic>
      <p:sp>
        <p:nvSpPr>
          <p:cNvPr id="5" name="Caption Nowa oferta"/>
          <p:cNvSpPr txBox="1"/>
          <p:nvPr/>
        </p:nvSpPr>
        <p:spPr>
          <a:xfrm>
            <a:off x="411480" y="5870448"/>
            <a:ext cx="2319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Nowa oferta</a:t>
            </a:r>
            <a:endParaRPr lang="en-US" sz="1200" dirty="0"/>
          </a:p>
        </p:txBody>
      </p:sp>
      <p:pic>
        <p:nvPicPr>
          <p:cNvPr id="6" name="Phone phone-doer-active.png" descr="Sprawa w toku: kroki do odhaczenia i informacja dla mieszkańcó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371600"/>
            <a:ext cx="2319688" cy="4572000"/>
          </a:xfrm>
          <a:prstGeom prst="rect">
            <a:avLst/>
          </a:prstGeom>
        </p:spPr>
      </p:pic>
      <p:sp>
        <p:nvSpPr>
          <p:cNvPr id="7" name="Caption Sprawa w toku"/>
          <p:cNvSpPr txBox="1"/>
          <p:nvPr/>
        </p:nvSpPr>
        <p:spPr>
          <a:xfrm>
            <a:off x="2697480" y="5870448"/>
            <a:ext cx="2319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Sprawa w toku</a:t>
            </a:r>
            <a:endParaRPr lang="en-US" sz="1200" dirty="0"/>
          </a:p>
        </p:txBody>
      </p:sp>
      <p:sp>
        <p:nvSpPr>
          <p:cNvPr id="8" name="Doer lead"/>
          <p:cNvSpPr txBox="1"/>
          <p:nvPr/>
        </p:nvSpPr>
        <p:spPr>
          <a:xfrm>
            <a:off x="5486400" y="1600200"/>
            <a:ext cx="6153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Urzędy, organizacje pozarządowe, grupy wolontariuszy i sąsiedzi dostają sprawy dopasowane do tego, czym się zajmują i gdzie działają.</a:t>
            </a:r>
            <a:endParaRPr lang="en-US" sz="1700" dirty="0"/>
          </a:p>
        </p:txBody>
      </p:sp>
      <p:sp>
        <p:nvSpPr>
          <p:cNvPr id="9" name="Circle LuInbox"/>
          <p:cNvSpPr/>
          <p:nvPr/>
        </p:nvSpPr>
        <p:spPr>
          <a:xfrm>
            <a:off x="5486400" y="2788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LuInbo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042" y="2899562"/>
            <a:ext cx="281635" cy="281635"/>
          </a:xfrm>
          <a:prstGeom prst="rect">
            <a:avLst/>
          </a:prstGeom>
        </p:spPr>
      </p:pic>
      <p:sp>
        <p:nvSpPr>
          <p:cNvPr id="11" name="Heading Oferta z pełnym kontekstem"/>
          <p:cNvSpPr txBox="1"/>
          <p:nvPr/>
        </p:nvSpPr>
        <p:spPr>
          <a:xfrm>
            <a:off x="6172200" y="2770632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Oferta z pełnym kontekstem</a:t>
            </a:r>
            <a:endParaRPr lang="en-US" sz="1700" dirty="0"/>
          </a:p>
        </p:txBody>
      </p:sp>
      <p:sp>
        <p:nvSpPr>
          <p:cNvPr id="12" name="Text Oferta z pełnym kontekstem"/>
          <p:cNvSpPr txBox="1"/>
          <p:nvPr/>
        </p:nvSpPr>
        <p:spPr>
          <a:xfrm>
            <a:off x="6172200" y="3136392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Opis sprawy, liczba zgłoszeń, scenariusz i kto jeszcze pomaga. Przyjmij, przekieruj albo odmów.</a:t>
            </a:r>
            <a:endParaRPr lang="en-US" sz="1400" dirty="0"/>
          </a:p>
        </p:txBody>
      </p:sp>
      <p:sp>
        <p:nvSpPr>
          <p:cNvPr id="13" name="Circle LuListChecks"/>
          <p:cNvSpPr/>
          <p:nvPr/>
        </p:nvSpPr>
        <p:spPr>
          <a:xfrm>
            <a:off x="5486400" y="3840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LuListCheck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042" y="3951122"/>
            <a:ext cx="281635" cy="281635"/>
          </a:xfrm>
          <a:prstGeom prst="rect">
            <a:avLst/>
          </a:prstGeom>
        </p:spPr>
      </p:pic>
      <p:sp>
        <p:nvSpPr>
          <p:cNvPr id="15" name="Heading Własne kroki do odhaczenia"/>
          <p:cNvSpPr txBox="1"/>
          <p:nvPr/>
        </p:nvSpPr>
        <p:spPr>
          <a:xfrm>
            <a:off x="6172200" y="3822192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Własne kroki do odhaczenia</a:t>
            </a:r>
            <a:endParaRPr lang="en-US" sz="1700" dirty="0"/>
          </a:p>
        </p:txBody>
      </p:sp>
      <p:sp>
        <p:nvSpPr>
          <p:cNvPr id="16" name="Text Własne kroki do odhaczenia"/>
          <p:cNvSpPr txBox="1"/>
          <p:nvPr/>
        </p:nvSpPr>
        <p:spPr>
          <a:xfrm>
            <a:off x="6172200" y="4187952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Każdy wykonawca widzi swoją część scenariusza.</a:t>
            </a:r>
            <a:endParaRPr lang="en-US" sz="1400" dirty="0"/>
          </a:p>
        </p:txBody>
      </p:sp>
      <p:sp>
        <p:nvSpPr>
          <p:cNvPr id="17" name="Circle LuCamera"/>
          <p:cNvSpPr/>
          <p:nvPr/>
        </p:nvSpPr>
        <p:spPr>
          <a:xfrm>
            <a:off x="5486400" y="4892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 LuCamer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7042" y="5002682"/>
            <a:ext cx="281635" cy="281635"/>
          </a:xfrm>
          <a:prstGeom prst="rect">
            <a:avLst/>
          </a:prstGeom>
        </p:spPr>
      </p:pic>
      <p:sp>
        <p:nvSpPr>
          <p:cNvPr id="19" name="Heading Informacja dla wszystkich"/>
          <p:cNvSpPr txBox="1"/>
          <p:nvPr/>
        </p:nvSpPr>
        <p:spPr>
          <a:xfrm>
            <a:off x="6172200" y="4873752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Informacja dla wszystkich</a:t>
            </a:r>
            <a:endParaRPr lang="en-US" sz="1700" dirty="0"/>
          </a:p>
        </p:txBody>
      </p:sp>
      <p:sp>
        <p:nvSpPr>
          <p:cNvPr id="20" name="Text Informacja dla wszystkich"/>
          <p:cNvSpPr txBox="1"/>
          <p:nvPr/>
        </p:nvSpPr>
        <p:spPr>
          <a:xfrm>
            <a:off x="6172200" y="5239512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Aktualizacja ze zdjęciami trafia na żywo do każdego mieszkańca sprawy.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PĘTLA UCZENIA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Każda rozwiązana sprawa ulepsza scenariusz</a:t>
            </a:r>
            <a:endParaRPr lang="en-US" sz="3600" dirty="0"/>
          </a:p>
        </p:txBody>
      </p:sp>
      <p:pic>
        <p:nvPicPr>
          <p:cNvPr id="4" name="Phone phone-confirm.png" descr="Ekran sprawy z pytaniem do mieszkanki: Czy to pomogło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2319688" cy="4572000"/>
          </a:xfrm>
          <a:prstGeom prst="rect">
            <a:avLst/>
          </a:prstGeom>
        </p:spPr>
      </p:pic>
      <p:pic>
        <p:nvPicPr>
          <p:cNvPr id="5" name="Window win-playbook.png" descr="Szkic wersji 2 scenariusza przygotowany przez AI, gotowy do publikac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417320"/>
            <a:ext cx="5394960" cy="3947658"/>
          </a:xfrm>
          <a:prstGeom prst="rect">
            <a:avLst/>
          </a:prstGeom>
        </p:spPr>
      </p:pic>
      <p:sp>
        <p:nvSpPr>
          <p:cNvPr id="6" name="Caption playbook"/>
          <p:cNvSpPr txBox="1"/>
          <p:nvPr/>
        </p:nvSpPr>
        <p:spPr>
          <a:xfrm>
            <a:off x="3090672" y="518209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Szkic wersji 2 z nowym krokiem od wykonawców</a:t>
            </a:r>
            <a:endParaRPr lang="en-US" sz="1200" dirty="0"/>
          </a:p>
        </p:txBody>
      </p:sp>
      <p:sp>
        <p:nvSpPr>
          <p:cNvPr id="7" name="Number 1"/>
          <p:cNvSpPr txBox="1"/>
          <p:nvPr/>
        </p:nvSpPr>
        <p:spPr>
          <a:xfrm>
            <a:off x="8458200" y="16916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Heading Mieszkańcy potwierdzają"/>
          <p:cNvSpPr txBox="1"/>
          <p:nvPr/>
        </p:nvSpPr>
        <p:spPr>
          <a:xfrm>
            <a:off x="9052560" y="1673352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Mieszkańcy potwierdzają</a:t>
            </a:r>
            <a:endParaRPr lang="en-US" sz="1700" dirty="0"/>
          </a:p>
        </p:txBody>
      </p:sp>
      <p:sp>
        <p:nvSpPr>
          <p:cNvPr id="9" name="Text Mieszkańcy potwierdzają"/>
          <p:cNvSpPr txBox="1"/>
          <p:nvPr/>
        </p:nvSpPr>
        <p:spPr>
          <a:xfrm>
            <a:off x="9052560" y="20391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„Czy to pomogło?” – jedno dotknięcie w aplikacji.</a:t>
            </a:r>
            <a:endParaRPr lang="en-US" sz="1400" dirty="0"/>
          </a:p>
        </p:txBody>
      </p:sp>
      <p:sp>
        <p:nvSpPr>
          <p:cNvPr id="10" name="Number 2"/>
          <p:cNvSpPr txBox="1"/>
          <p:nvPr/>
        </p:nvSpPr>
        <p:spPr>
          <a:xfrm>
            <a:off x="8458200" y="30175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Heading AI pisze wersję 2"/>
          <p:cNvSpPr txBox="1"/>
          <p:nvPr/>
        </p:nvSpPr>
        <p:spPr>
          <a:xfrm>
            <a:off x="9052560" y="2999232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pisze wersję 2</a:t>
            </a:r>
            <a:endParaRPr lang="en-US" sz="1700" dirty="0"/>
          </a:p>
        </p:txBody>
      </p:sp>
      <p:sp>
        <p:nvSpPr>
          <p:cNvPr id="12" name="Text AI pisze wersję 2"/>
          <p:cNvSpPr txBox="1"/>
          <p:nvPr/>
        </p:nvSpPr>
        <p:spPr>
          <a:xfrm>
            <a:off x="9052560" y="336499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Dodaje krok, który naprawdę zadziałał w terenie.</a:t>
            </a:r>
            <a:endParaRPr lang="en-US" sz="1400" dirty="0"/>
          </a:p>
        </p:txBody>
      </p:sp>
      <p:sp>
        <p:nvSpPr>
          <p:cNvPr id="13" name="Number 3"/>
          <p:cNvSpPr txBox="1"/>
          <p:nvPr/>
        </p:nvSpPr>
        <p:spPr>
          <a:xfrm>
            <a:off x="8458200" y="43434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Heading Moderator publikuje"/>
          <p:cNvSpPr txBox="1"/>
          <p:nvPr/>
        </p:nvSpPr>
        <p:spPr>
          <a:xfrm>
            <a:off x="9052560" y="4325112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Moderator publikuje</a:t>
            </a:r>
            <a:endParaRPr lang="en-US" sz="1700" dirty="0"/>
          </a:p>
        </p:txBody>
      </p:sp>
      <p:sp>
        <p:nvSpPr>
          <p:cNvPr id="15" name="Text Moderator publikuje"/>
          <p:cNvSpPr txBox="1"/>
          <p:nvPr/>
        </p:nvSpPr>
        <p:spPr>
          <a:xfrm>
            <a:off x="9052560" y="469087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Następna gmina zaczyna od lepszego przepisu.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DLA KAŻDEJ SPOŁECZNOŚCI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Jedna platforma, wiele społeczności</a:t>
            </a:r>
            <a:endParaRPr lang="en-US" sz="3600" dirty="0"/>
          </a:p>
        </p:txBody>
      </p:sp>
      <p:pic>
        <p:nvPicPr>
          <p:cNvPr id="4" name="Window win-admin.png" descr="Ustawienia społeczności: kategorie, etapy, role i zasad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6309360" cy="4616753"/>
          </a:xfrm>
          <a:prstGeom prst="rect">
            <a:avLst/>
          </a:prstGeom>
        </p:spPr>
      </p:pic>
      <p:pic>
        <p:nvPicPr>
          <p:cNvPr id="5" name="Phone phone-uk.png" descr="Mapa okolicy po ukraińsk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057400"/>
            <a:ext cx="2041326" cy="4023360"/>
          </a:xfrm>
          <a:prstGeom prst="rect">
            <a:avLst/>
          </a:prstGeom>
        </p:spPr>
      </p:pic>
      <p:sp>
        <p:nvSpPr>
          <p:cNvPr id="6" name="Pill Ola widzi wszystko po ukraińsku"/>
          <p:cNvSpPr txBox="1"/>
          <p:nvPr/>
        </p:nvSpPr>
        <p:spPr>
          <a:xfrm>
            <a:off x="4023360" y="1737360"/>
            <a:ext cx="29260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Ola widzi wszystko po ukraińsku</a:t>
            </a:r>
            <a:endParaRPr lang="en-US" sz="1300" dirty="0"/>
          </a:p>
        </p:txBody>
      </p:sp>
      <p:sp>
        <p:nvSpPr>
          <p:cNvPr id="7" name="Config heading"/>
          <p:cNvSpPr txBox="1"/>
          <p:nvPr/>
        </p:nvSpPr>
        <p:spPr>
          <a:xfrm>
            <a:off x="7360920" y="1554480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Konfiguracja zamiast programowania</a:t>
            </a:r>
            <a:endParaRPr lang="en-US" sz="1800" dirty="0"/>
          </a:p>
        </p:txBody>
      </p:sp>
      <p:sp>
        <p:nvSpPr>
          <p:cNvPr id="8" name="Config text"/>
          <p:cNvSpPr txBox="1"/>
          <p:nvPr/>
        </p:nvSpPr>
        <p:spPr>
          <a:xfrm>
            <a:off x="7360920" y="1965960"/>
            <a:ext cx="4279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Kategorie, nazwy etapów, role i zasady prywatności ustawia administrator. Import i eksport w JSON.</a:t>
            </a:r>
            <a:endParaRPr lang="en-US" sz="1400" dirty="0"/>
          </a:p>
        </p:txBody>
      </p:sp>
      <p:sp>
        <p:nvSpPr>
          <p:cNvPr id="9" name="Circle LuLandmark"/>
          <p:cNvSpPr/>
          <p:nvPr/>
        </p:nvSpPr>
        <p:spPr>
          <a:xfrm>
            <a:off x="7360920" y="2834640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 LuLandmar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481" y="2931201"/>
            <a:ext cx="245791" cy="245791"/>
          </a:xfrm>
          <a:prstGeom prst="rect">
            <a:avLst/>
          </a:prstGeom>
        </p:spPr>
      </p:pic>
      <p:sp>
        <p:nvSpPr>
          <p:cNvPr id="11" name="Heading Dzielnica Nadrzecze"/>
          <p:cNvSpPr txBox="1"/>
          <p:nvPr/>
        </p:nvSpPr>
        <p:spPr>
          <a:xfrm>
            <a:off x="7982712" y="2816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Dzielnica Nadrzecze</a:t>
            </a:r>
            <a:endParaRPr lang="en-US" sz="1500" dirty="0"/>
          </a:p>
        </p:txBody>
      </p:sp>
      <p:sp>
        <p:nvSpPr>
          <p:cNvPr id="12" name="Text Dzielnica Nadrzecze"/>
          <p:cNvSpPr txBox="1"/>
          <p:nvPr/>
        </p:nvSpPr>
        <p:spPr>
          <a:xfrm>
            <a:off x="7982712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Dzielnica miasta · PL, EN, UK</a:t>
            </a:r>
            <a:endParaRPr lang="en-US" sz="1300" dirty="0"/>
          </a:p>
        </p:txBody>
      </p:sp>
      <p:sp>
        <p:nvSpPr>
          <p:cNvPr id="13" name="Circle LuBuilding2"/>
          <p:cNvSpPr/>
          <p:nvPr/>
        </p:nvSpPr>
        <p:spPr>
          <a:xfrm>
            <a:off x="7360920" y="3611880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con LuBuilding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7481" y="3708441"/>
            <a:ext cx="245791" cy="245791"/>
          </a:xfrm>
          <a:prstGeom prst="rect">
            <a:avLst/>
          </a:prstGeom>
        </p:spPr>
      </p:pic>
      <p:sp>
        <p:nvSpPr>
          <p:cNvPr id="15" name="Heading Stare Miasto"/>
          <p:cNvSpPr txBox="1"/>
          <p:nvPr/>
        </p:nvSpPr>
        <p:spPr>
          <a:xfrm>
            <a:off x="7982712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Stare Miasto</a:t>
            </a:r>
            <a:endParaRPr lang="en-US" sz="1500" dirty="0"/>
          </a:p>
        </p:txBody>
      </p:sp>
      <p:sp>
        <p:nvSpPr>
          <p:cNvPr id="16" name="Text Stare Miasto"/>
          <p:cNvSpPr txBox="1"/>
          <p:nvPr/>
        </p:nvSpPr>
        <p:spPr>
          <a:xfrm>
            <a:off x="7982712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Tu powstał scenariusz „Sąsiedzka pomoc”</a:t>
            </a:r>
            <a:endParaRPr lang="en-US" sz="1300" dirty="0"/>
          </a:p>
        </p:txBody>
      </p:sp>
      <p:sp>
        <p:nvSpPr>
          <p:cNvPr id="17" name="Circle LuGraduationCap"/>
          <p:cNvSpPr/>
          <p:nvPr/>
        </p:nvSpPr>
        <p:spPr>
          <a:xfrm>
            <a:off x="7360920" y="4389120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 LuGraduationCa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7481" y="4485681"/>
            <a:ext cx="245791" cy="245791"/>
          </a:xfrm>
          <a:prstGeom prst="rect">
            <a:avLst/>
          </a:prstGeom>
        </p:spPr>
      </p:pic>
      <p:sp>
        <p:nvSpPr>
          <p:cNvPr id="19" name="Heading Kampus Północny"/>
          <p:cNvSpPr txBox="1"/>
          <p:nvPr/>
        </p:nvSpPr>
        <p:spPr>
          <a:xfrm>
            <a:off x="7982712" y="4370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Kampus Północny</a:t>
            </a:r>
            <a:endParaRPr lang="en-US" sz="1500" dirty="0"/>
          </a:p>
        </p:txBody>
      </p:sp>
      <p:sp>
        <p:nvSpPr>
          <p:cNvPr id="20" name="Text Kampus Północny"/>
          <p:cNvSpPr txBox="1"/>
          <p:nvPr/>
        </p:nvSpPr>
        <p:spPr>
          <a:xfrm>
            <a:off x="7982712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Uczelnia i jej społeczność</a:t>
            </a:r>
            <a:endParaRPr lang="en-US" sz="1300" dirty="0"/>
          </a:p>
        </p:txBody>
      </p:sp>
      <p:sp>
        <p:nvSpPr>
          <p:cNvPr id="21" name="Circle LuHouse"/>
          <p:cNvSpPr/>
          <p:nvPr/>
        </p:nvSpPr>
        <p:spPr>
          <a:xfrm>
            <a:off x="7360920" y="5166360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con LuHous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7481" y="5262921"/>
            <a:ext cx="245791" cy="245791"/>
          </a:xfrm>
          <a:prstGeom prst="rect">
            <a:avLst/>
          </a:prstGeom>
        </p:spPr>
      </p:pic>
      <p:sp>
        <p:nvSpPr>
          <p:cNvPr id="23" name="Heading Spółdzielnia Dębowa"/>
          <p:cNvSpPr txBox="1"/>
          <p:nvPr/>
        </p:nvSpPr>
        <p:spPr>
          <a:xfrm>
            <a:off x="7982712" y="5148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Spółdzielnia Dębowa</a:t>
            </a:r>
            <a:endParaRPr lang="en-US" sz="1500" dirty="0"/>
          </a:p>
        </p:txBody>
      </p:sp>
      <p:sp>
        <p:nvSpPr>
          <p:cNvPr id="24" name="Text Spółdzielnia Dębowa"/>
          <p:cNvSpPr txBox="1"/>
          <p:nvPr/>
        </p:nvSpPr>
        <p:spPr>
          <a:xfrm>
            <a:off x="7982712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Własne nazwy etapów, mapa tylko dla członków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SZTUCZNA INTELIGENCJA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AI, które pomaga, ale nie decyduje</a:t>
            </a:r>
            <a:endParaRPr lang="en-US" sz="3600" dirty="0"/>
          </a:p>
        </p:txBody>
      </p:sp>
      <p:sp>
        <p:nvSpPr>
          <p:cNvPr id="4" name="Card Tryb offline"/>
          <p:cNvSpPr/>
          <p:nvPr/>
        </p:nvSpPr>
        <p:spPr>
          <a:xfrm>
            <a:off x="548640" y="1600200"/>
            <a:ext cx="5394960" cy="2788920"/>
          </a:xfrm>
          <a:prstGeom prst="roundRect">
            <a:avLst>
              <a:gd name="adj" fmla="val 4918"/>
            </a:avLst>
          </a:prstGeom>
          <a:solidFill>
            <a:schemeClr val="bg2"/>
          </a:solidFill>
          <a:ln/>
        </p:spPr>
      </p:sp>
      <p:sp>
        <p:nvSpPr>
          <p:cNvPr id="5" name="Circle Tryb offline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Tryb offli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05279"/>
            <a:ext cx="332842" cy="332842"/>
          </a:xfrm>
          <a:prstGeom prst="rect">
            <a:avLst/>
          </a:prstGeom>
        </p:spPr>
      </p:pic>
      <p:sp>
        <p:nvSpPr>
          <p:cNvPr id="7" name="Heading Tryb offline"/>
          <p:cNvSpPr txBox="1"/>
          <p:nvPr/>
        </p:nvSpPr>
        <p:spPr>
          <a:xfrm>
            <a:off x="1645920" y="1856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Tryb offline</a:t>
            </a:r>
            <a:endParaRPr lang="en-US" sz="2000" dirty="0"/>
          </a:p>
        </p:txBody>
      </p:sp>
      <p:sp>
        <p:nvSpPr>
          <p:cNvPr id="8" name="Sub Tryb offline"/>
          <p:cNvSpPr txBox="1"/>
          <p:nvPr/>
        </p:nvSpPr>
        <p:spPr>
          <a:xfrm>
            <a:off x="1645920" y="22219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Bez klucza i bez zewnętrznego AI</a:t>
            </a:r>
            <a:endParaRPr lang="en-US" sz="1400" dirty="0"/>
          </a:p>
        </p:txBody>
      </p:sp>
      <p:sp>
        <p:nvSpPr>
          <p:cNvPr id="9" name="Bullets Tryb offline"/>
          <p:cNvSpPr txBox="1"/>
          <p:nvPr/>
        </p:nvSpPr>
        <p:spPr>
          <a:xfrm>
            <a:off x="868680" y="283464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Reguły słów kluczowych: kategoria i pilność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Wektory słów: podobne sprawy i scenariusze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Wykonawcy według kategorii, odległości i zasięgu</a:t>
            </a:r>
            <a:endParaRPr lang="en-US" sz="1500" dirty="0"/>
          </a:p>
        </p:txBody>
      </p:sp>
      <p:sp>
        <p:nvSpPr>
          <p:cNvPr id="10" name="Card Tryb LLM"/>
          <p:cNvSpPr/>
          <p:nvPr/>
        </p:nvSpPr>
        <p:spPr>
          <a:xfrm>
            <a:off x="6245352" y="1600200"/>
            <a:ext cx="5394960" cy="2788920"/>
          </a:xfrm>
          <a:prstGeom prst="roundRect">
            <a:avLst>
              <a:gd name="adj" fmla="val 4918"/>
            </a:avLst>
          </a:prstGeom>
          <a:solidFill>
            <a:schemeClr val="accent4"/>
          </a:solidFill>
          <a:ln/>
        </p:spPr>
      </p:sp>
      <p:sp>
        <p:nvSpPr>
          <p:cNvPr id="11" name="Circle Tryb LLM"/>
          <p:cNvSpPr/>
          <p:nvPr/>
        </p:nvSpPr>
        <p:spPr>
          <a:xfrm>
            <a:off x="6565392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 Tryb LL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151" y="2005279"/>
            <a:ext cx="332842" cy="332842"/>
          </a:xfrm>
          <a:prstGeom prst="rect">
            <a:avLst/>
          </a:prstGeom>
        </p:spPr>
      </p:pic>
      <p:sp>
        <p:nvSpPr>
          <p:cNvPr id="13" name="Heading Tryb LLM"/>
          <p:cNvSpPr txBox="1"/>
          <p:nvPr/>
        </p:nvSpPr>
        <p:spPr>
          <a:xfrm>
            <a:off x="7342632" y="1856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Tryb LLM</a:t>
            </a:r>
            <a:endParaRPr lang="en-US" sz="2000" dirty="0"/>
          </a:p>
        </p:txBody>
      </p:sp>
      <p:sp>
        <p:nvSpPr>
          <p:cNvPr id="14" name="Sub Tryb LLM"/>
          <p:cNvSpPr txBox="1"/>
          <p:nvPr/>
        </p:nvSpPr>
        <p:spPr>
          <a:xfrm>
            <a:off x="7342632" y="22219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Dowolny model zgodny z API OpenAI, także lokalny</a:t>
            </a:r>
            <a:endParaRPr lang="en-US" sz="1400" dirty="0"/>
          </a:p>
        </p:txBody>
      </p:sp>
      <p:sp>
        <p:nvSpPr>
          <p:cNvPr id="15" name="Bullets Tryb LLM"/>
          <p:cNvSpPr txBox="1"/>
          <p:nvPr/>
        </p:nvSpPr>
        <p:spPr>
          <a:xfrm>
            <a:off x="6565392" y="283464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Rozumie sens zgłoszeń w różnych językach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Tłumaczy treści i oznacza je jako tłumaczenia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Pisze kolejne wersje scenariuszy z relacji wykonawców</a:t>
            </a:r>
            <a:endParaRPr lang="en-US" sz="1500" dirty="0"/>
          </a:p>
        </p:txBody>
      </p:sp>
      <p:sp>
        <p:nvSpPr>
          <p:cNvPr id="16" name="Circle LuSearch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 LuSear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946904"/>
            <a:ext cx="256032" cy="256032"/>
          </a:xfrm>
          <a:prstGeom prst="rect">
            <a:avLst/>
          </a:prstGeom>
        </p:spPr>
      </p:pic>
      <p:sp>
        <p:nvSpPr>
          <p:cNvPr id="18" name="Principle 1"/>
          <p:cNvSpPr txBox="1"/>
          <p:nvPr/>
        </p:nvSpPr>
        <p:spPr>
          <a:xfrm>
            <a:off x="1143000" y="47823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Wyszukiwanie wektorowe zawęża wybór, model wybiera tylko z prawdziwych opcji</a:t>
            </a:r>
            <a:endParaRPr lang="en-US" sz="1400" dirty="0"/>
          </a:p>
        </p:txBody>
      </p:sp>
      <p:sp>
        <p:nvSpPr>
          <p:cNvPr id="19" name="Circle LuUndo2"/>
          <p:cNvSpPr/>
          <p:nvPr/>
        </p:nvSpPr>
        <p:spPr>
          <a:xfrm>
            <a:off x="4334256" y="4846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 LuUndo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946904"/>
            <a:ext cx="256032" cy="256032"/>
          </a:xfrm>
          <a:prstGeom prst="rect">
            <a:avLst/>
          </a:prstGeom>
        </p:spPr>
      </p:pic>
      <p:sp>
        <p:nvSpPr>
          <p:cNvPr id="21" name="Principle 2"/>
          <p:cNvSpPr txBox="1"/>
          <p:nvPr/>
        </p:nvSpPr>
        <p:spPr>
          <a:xfrm>
            <a:off x="4928616" y="47823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Gdy model zawiedzie, krok wraca do trybu offline i demo działa dalej</a:t>
            </a:r>
            <a:endParaRPr lang="en-US" sz="1400" dirty="0"/>
          </a:p>
        </p:txBody>
      </p:sp>
      <p:sp>
        <p:nvSpPr>
          <p:cNvPr id="22" name="Circle LuShieldCheck"/>
          <p:cNvSpPr/>
          <p:nvPr/>
        </p:nvSpPr>
        <p:spPr>
          <a:xfrm>
            <a:off x="8119872" y="4846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con LuShield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56" y="4946904"/>
            <a:ext cx="256032" cy="256032"/>
          </a:xfrm>
          <a:prstGeom prst="rect">
            <a:avLst/>
          </a:prstGeom>
        </p:spPr>
      </p:pic>
      <p:sp>
        <p:nvSpPr>
          <p:cNvPr id="24" name="Principle 3"/>
          <p:cNvSpPr txBox="1"/>
          <p:nvPr/>
        </p:nvSpPr>
        <p:spPr>
          <a:xfrm>
            <a:off x="8714232" y="47823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Nic nie trafia do ludzi bez zatwierdzenia moderatora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TECHNOLOGIA I JAKOŚĆ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Gotowe do wdrożenia jednym kliknięciem</a:t>
            </a:r>
            <a:endParaRPr lang="en-US" sz="3600" dirty="0"/>
          </a:p>
        </p:txBody>
      </p:sp>
      <p:sp>
        <p:nvSpPr>
          <p:cNvPr id="4" name="Box Aplikacja: Ionic React"/>
          <p:cNvSpPr/>
          <p:nvPr/>
        </p:nvSpPr>
        <p:spPr>
          <a:xfrm>
            <a:off x="548640" y="1554480"/>
            <a:ext cx="53035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C9D1D8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2C">
                <a:alpha val="12000"/>
              </a:srgbClr>
            </a:outerShdw>
          </a:effectLst>
        </p:spPr>
      </p:sp>
      <p:sp>
        <p:nvSpPr>
          <p:cNvPr id="5" name="Circle Aplikacja: Ionic React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Aplikacja: Ionic Rea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83664"/>
            <a:ext cx="256032" cy="256032"/>
          </a:xfrm>
          <a:prstGeom prst="rect">
            <a:avLst/>
          </a:prstGeom>
        </p:spPr>
      </p:pic>
      <p:sp>
        <p:nvSpPr>
          <p:cNvPr id="7" name="Box title Aplikacja: Ionic React"/>
          <p:cNvSpPr txBox="1"/>
          <p:nvPr/>
        </p:nvSpPr>
        <p:spPr>
          <a:xfrm>
            <a:off x="1417320" y="16642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Aplikacja: Ionic React</a:t>
            </a:r>
            <a:endParaRPr lang="en-US" sz="1600" dirty="0"/>
          </a:p>
        </p:txBody>
      </p:sp>
      <p:sp>
        <p:nvSpPr>
          <p:cNvPr id="8" name="Box text Aplikacja: Ionic React"/>
          <p:cNvSpPr txBox="1"/>
          <p:nvPr/>
        </p:nvSpPr>
        <p:spPr>
          <a:xfrm>
            <a:off x="1417320" y="20299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Przeglądarka, PWA i Android (Capacitor)</a:t>
            </a:r>
            <a:endParaRPr lang="en-US" sz="1300" dirty="0"/>
          </a:p>
        </p:txBody>
      </p:sp>
      <p:sp>
        <p:nvSpPr>
          <p:cNvPr id="9" name="Arrow app-api"/>
          <p:cNvSpPr/>
          <p:nvPr/>
        </p:nvSpPr>
        <p:spPr>
          <a:xfrm>
            <a:off x="1691640" y="2468880"/>
            <a:ext cx="0" cy="457200"/>
          </a:xfrm>
          <a:prstGeom prst="line">
            <a:avLst/>
          </a:prstGeom>
          <a:noFill/>
          <a:ln w="25400">
            <a:solidFill>
              <a:srgbClr val="0B6B58"/>
            </a:solidFill>
            <a:prstDash val="solid"/>
            <a:headEnd type="triangle"/>
            <a:tailEnd type="triangle"/>
          </a:ln>
        </p:spPr>
      </p:sp>
      <p:sp>
        <p:nvSpPr>
          <p:cNvPr id="10" name="Arrow label"/>
          <p:cNvSpPr txBox="1"/>
          <p:nvPr/>
        </p:nvSpPr>
        <p:spPr>
          <a:xfrm>
            <a:off x="1874520" y="25420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REST + zdarzenia na żywo (SSE)</a:t>
            </a:r>
            <a:endParaRPr lang="en-US" sz="1200" dirty="0"/>
          </a:p>
        </p:txBody>
      </p:sp>
      <p:sp>
        <p:nvSpPr>
          <p:cNvPr id="11" name="Box API: Quarkus 3 (Java 21)"/>
          <p:cNvSpPr/>
          <p:nvPr/>
        </p:nvSpPr>
        <p:spPr>
          <a:xfrm>
            <a:off x="548640" y="2926080"/>
            <a:ext cx="53035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C9D1D8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2C">
                <a:alpha val="12000"/>
              </a:srgbClr>
            </a:outerShdw>
          </a:effectLst>
        </p:spPr>
      </p:sp>
      <p:sp>
        <p:nvSpPr>
          <p:cNvPr id="12" name="Circle API: Quarkus 3 (Java 21)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API: Quarkus 3 (Java 21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255264"/>
            <a:ext cx="256032" cy="256032"/>
          </a:xfrm>
          <a:prstGeom prst="rect">
            <a:avLst/>
          </a:prstGeom>
        </p:spPr>
      </p:pic>
      <p:sp>
        <p:nvSpPr>
          <p:cNvPr id="14" name="Box title API: Quarkus 3 (Java 21)"/>
          <p:cNvSpPr txBox="1"/>
          <p:nvPr/>
        </p:nvSpPr>
        <p:spPr>
          <a:xfrm>
            <a:off x="1417320" y="3035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API: Quarkus 3 (Java 21)</a:t>
            </a:r>
            <a:endParaRPr lang="en-US" sz="1600" dirty="0"/>
          </a:p>
        </p:txBody>
      </p:sp>
      <p:sp>
        <p:nvSpPr>
          <p:cNvPr id="15" name="Box text API: Quarkus 3 (Java 21)"/>
          <p:cNvSpPr txBox="1"/>
          <p:nvPr/>
        </p:nvSpPr>
        <p:spPr>
          <a:xfrm>
            <a:off x="1417320" y="34015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Sprawy, dopasowanie, uprawnienia; serwuje też aplikację</a:t>
            </a:r>
            <a:endParaRPr lang="en-US" sz="1300" dirty="0"/>
          </a:p>
        </p:txBody>
      </p:sp>
      <p:sp>
        <p:nvSpPr>
          <p:cNvPr id="16" name="Arrow api-db"/>
          <p:cNvSpPr/>
          <p:nvPr/>
        </p:nvSpPr>
        <p:spPr>
          <a:xfrm>
            <a:off x="1691640" y="3840480"/>
            <a:ext cx="0" cy="411480"/>
          </a:xfrm>
          <a:prstGeom prst="line">
            <a:avLst/>
          </a:prstGeom>
          <a:noFill/>
          <a:ln w="25400">
            <a:solidFill>
              <a:srgbClr val="0B6B58"/>
            </a:solidFill>
            <a:prstDash val="solid"/>
            <a:tailEnd type="triangle"/>
          </a:ln>
        </p:spPr>
      </p:sp>
      <p:sp>
        <p:nvSpPr>
          <p:cNvPr id="17" name="Arrow api-ai"/>
          <p:cNvSpPr/>
          <p:nvPr/>
        </p:nvSpPr>
        <p:spPr>
          <a:xfrm>
            <a:off x="4709160" y="3840480"/>
            <a:ext cx="0" cy="411480"/>
          </a:xfrm>
          <a:prstGeom prst="line">
            <a:avLst/>
          </a:prstGeom>
          <a:noFill/>
          <a:ln w="25400">
            <a:solidFill>
              <a:srgbClr val="0B6B58"/>
            </a:solidFill>
            <a:prstDash val="solid"/>
            <a:tailEnd type="triangle"/>
          </a:ln>
        </p:spPr>
      </p:sp>
      <p:sp>
        <p:nvSpPr>
          <p:cNvPr id="18" name="Box PostgreSQL"/>
          <p:cNvSpPr/>
          <p:nvPr/>
        </p:nvSpPr>
        <p:spPr>
          <a:xfrm>
            <a:off x="548640" y="4251960"/>
            <a:ext cx="25146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rgbClr val="C9D1D8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2C">
                <a:alpha val="12000"/>
              </a:srgbClr>
            </a:outerShdw>
          </a:effectLst>
        </p:spPr>
      </p:sp>
      <p:sp>
        <p:nvSpPr>
          <p:cNvPr id="19" name="Circle PostgreSQL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PostgreSQL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626864"/>
            <a:ext cx="256032" cy="256032"/>
          </a:xfrm>
          <a:prstGeom prst="rect">
            <a:avLst/>
          </a:prstGeom>
        </p:spPr>
      </p:pic>
      <p:sp>
        <p:nvSpPr>
          <p:cNvPr id="21" name="Box title PostgreSQL"/>
          <p:cNvSpPr txBox="1"/>
          <p:nvPr/>
        </p:nvSpPr>
        <p:spPr>
          <a:xfrm>
            <a:off x="1417320" y="44074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22" name="Box text PostgreSQL"/>
          <p:cNvSpPr txBox="1"/>
          <p:nvPr/>
        </p:nvSpPr>
        <p:spPr>
          <a:xfrm>
            <a:off x="1417320" y="47731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Dane i wektory</a:t>
            </a:r>
            <a:endParaRPr lang="en-US" sz="1300" dirty="0"/>
          </a:p>
        </p:txBody>
      </p:sp>
      <p:sp>
        <p:nvSpPr>
          <p:cNvPr id="23" name="Box Warstwa AI"/>
          <p:cNvSpPr/>
          <p:nvPr/>
        </p:nvSpPr>
        <p:spPr>
          <a:xfrm>
            <a:off x="3337560" y="4251960"/>
            <a:ext cx="25146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rgbClr val="C9D1D8"/>
            </a:solidFill>
            <a:prstDash val="solid"/>
          </a:ln>
          <a:effectLst>
            <a:outerShdw sx="100000" sy="100000" kx="0" ky="0" algn="bl" rotWithShape="0" blurRad="127000" dist="38100" dir="5400000">
              <a:srgbClr val="15212C">
                <a:alpha val="12000"/>
              </a:srgbClr>
            </a:outerShdw>
          </a:effectLst>
        </p:spPr>
      </p:sp>
      <p:sp>
        <p:nvSpPr>
          <p:cNvPr id="24" name="Circle Warstwa AI"/>
          <p:cNvSpPr/>
          <p:nvPr/>
        </p:nvSpPr>
        <p:spPr>
          <a:xfrm>
            <a:off x="3566160" y="4526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 Warstwa A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4626864"/>
            <a:ext cx="256032" cy="256032"/>
          </a:xfrm>
          <a:prstGeom prst="rect">
            <a:avLst/>
          </a:prstGeom>
        </p:spPr>
      </p:pic>
      <p:sp>
        <p:nvSpPr>
          <p:cNvPr id="26" name="Box title Warstwa AI"/>
          <p:cNvSpPr txBox="1"/>
          <p:nvPr/>
        </p:nvSpPr>
        <p:spPr>
          <a:xfrm>
            <a:off x="4206240" y="44074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Warstwa AI</a:t>
            </a:r>
            <a:endParaRPr lang="en-US" sz="1600" dirty="0"/>
          </a:p>
        </p:txBody>
      </p:sp>
      <p:sp>
        <p:nvSpPr>
          <p:cNvPr id="27" name="Box text Warstwa AI"/>
          <p:cNvSpPr txBox="1"/>
          <p:nvPr/>
        </p:nvSpPr>
        <p:spPr>
          <a:xfrm>
            <a:off x="4206240" y="47731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Offline lub LLM</a:t>
            </a:r>
            <a:endParaRPr lang="en-US" sz="1300" dirty="0"/>
          </a:p>
        </p:txBody>
      </p:sp>
      <p:sp>
        <p:nvSpPr>
          <p:cNvPr id="28" name="Deploy note"/>
          <p:cNvSpPr txBox="1"/>
          <p:nvPr/>
        </p:nvSpPr>
        <p:spPr>
          <a:xfrm>
            <a:off x="548640" y="5486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Jeden kontener (aplikacja + API) i baza PostgreSQL z pgvector</a:t>
            </a:r>
            <a:endParaRPr lang="en-US" sz="1300" dirty="0"/>
          </a:p>
        </p:txBody>
      </p:sp>
      <p:sp>
        <p:nvSpPr>
          <p:cNvPr id="29" name="Quality heading"/>
          <p:cNvSpPr txBox="1"/>
          <p:nvPr/>
        </p:nvSpPr>
        <p:spPr>
          <a:xfrm>
            <a:off x="6355080" y="1554480"/>
            <a:ext cx="5285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Sprawdzane przy każdym pushu</a:t>
            </a:r>
            <a:endParaRPr lang="en-US" sz="1800" dirty="0"/>
          </a:p>
        </p:txBody>
      </p:sp>
      <p:pic>
        <p:nvPicPr>
          <p:cNvPr id="30" name="Check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167128"/>
            <a:ext cx="329184" cy="329184"/>
          </a:xfrm>
          <a:prstGeom prst="rect">
            <a:avLst/>
          </a:prstGeom>
        </p:spPr>
      </p:pic>
      <p:sp>
        <p:nvSpPr>
          <p:cNvPr id="31" name="Check text 1"/>
          <p:cNvSpPr txBox="1"/>
          <p:nvPr/>
        </p:nvSpPr>
        <p:spPr>
          <a:xfrm>
            <a:off x="6858000" y="214884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19 testów jednostkowych</a:t>
            </a:r>
            <a:endParaRPr lang="en-US" sz="1500" dirty="0"/>
          </a:p>
        </p:txBody>
      </p:sp>
      <p:pic>
        <p:nvPicPr>
          <p:cNvPr id="32" name="Check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715768"/>
            <a:ext cx="329184" cy="329184"/>
          </a:xfrm>
          <a:prstGeom prst="rect">
            <a:avLst/>
          </a:prstGeom>
        </p:spPr>
      </p:pic>
      <p:sp>
        <p:nvSpPr>
          <p:cNvPr id="33" name="Check text 2"/>
          <p:cNvSpPr txBox="1"/>
          <p:nvPr/>
        </p:nvSpPr>
        <p:spPr>
          <a:xfrm>
            <a:off x="6858000" y="26974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 API całej historii Marii (13 kroków)</a:t>
            </a:r>
            <a:endParaRPr lang="en-US" sz="1500" dirty="0"/>
          </a:p>
        </p:txBody>
      </p:sp>
      <p:pic>
        <p:nvPicPr>
          <p:cNvPr id="34" name="Check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264408"/>
            <a:ext cx="329184" cy="329184"/>
          </a:xfrm>
          <a:prstGeom prst="rect">
            <a:avLst/>
          </a:prstGeom>
        </p:spPr>
      </p:pic>
      <p:sp>
        <p:nvSpPr>
          <p:cNvPr id="35" name="Check text 3"/>
          <p:cNvSpPr txBox="1"/>
          <p:nvPr/>
        </p:nvSpPr>
        <p:spPr>
          <a:xfrm>
            <a:off x="6858000" y="324612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 w przeglądarce: każdy ekran i każda rola</a:t>
            </a:r>
            <a:endParaRPr lang="en-US" sz="1500" dirty="0"/>
          </a:p>
        </p:txBody>
      </p:sp>
      <p:pic>
        <p:nvPicPr>
          <p:cNvPr id="36" name="Check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813048"/>
            <a:ext cx="329184" cy="329184"/>
          </a:xfrm>
          <a:prstGeom prst="rect">
            <a:avLst/>
          </a:prstGeom>
        </p:spPr>
      </p:pic>
      <p:sp>
        <p:nvSpPr>
          <p:cNvPr id="37" name="Check text 4"/>
          <p:cNvSpPr txBox="1"/>
          <p:nvPr/>
        </p:nvSpPr>
        <p:spPr>
          <a:xfrm>
            <a:off x="6858000" y="379476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 nawigacji: linki, wstecz i dalej</a:t>
            </a:r>
            <a:endParaRPr lang="en-US" sz="1500" dirty="0"/>
          </a:p>
        </p:txBody>
      </p:sp>
      <p:pic>
        <p:nvPicPr>
          <p:cNvPr id="38" name="Check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4361688"/>
            <a:ext cx="329184" cy="329184"/>
          </a:xfrm>
          <a:prstGeom prst="rect">
            <a:avLst/>
          </a:prstGeom>
        </p:spPr>
      </p:pic>
      <p:sp>
        <p:nvSpPr>
          <p:cNvPr id="39" name="Check text 5"/>
          <p:cNvSpPr txBox="1"/>
          <p:nvPr/>
        </p:nvSpPr>
        <p:spPr>
          <a:xfrm>
            <a:off x="6858000" y="434340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Obraz Dockera publikowany automatycznie</a:t>
            </a:r>
            <a:endParaRPr lang="en-US" sz="1500" dirty="0"/>
          </a:p>
        </p:txBody>
      </p:sp>
      <p:pic>
        <p:nvPicPr>
          <p:cNvPr id="40" name="Check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4910328"/>
            <a:ext cx="329184" cy="329184"/>
          </a:xfrm>
          <a:prstGeom prst="rect">
            <a:avLst/>
          </a:prstGeom>
        </p:spPr>
      </p:pic>
      <p:sp>
        <p:nvSpPr>
          <p:cNvPr id="41" name="Check text 6"/>
          <p:cNvSpPr txBox="1"/>
          <p:nvPr/>
        </p:nvSpPr>
        <p:spPr>
          <a:xfrm>
            <a:off x="6858000" y="489204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Wdrożenie na Render jednym kliknięciem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CO JUŻ MAMY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Działający prototyp, nie makieta</a:t>
            </a:r>
            <a:endParaRPr lang="en-US" sz="3600" dirty="0"/>
          </a:p>
        </p:txBody>
      </p:sp>
      <p:sp>
        <p:nvSpPr>
          <p:cNvPr id="4" name="Stat card 1"/>
          <p:cNvSpPr/>
          <p:nvPr/>
        </p:nvSpPr>
        <p:spPr>
          <a:xfrm>
            <a:off x="548640" y="1508760"/>
            <a:ext cx="352044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5" name="Stat 1"/>
          <p:cNvSpPr txBox="1"/>
          <p:nvPr/>
        </p:nvSpPr>
        <p:spPr>
          <a:xfrm>
            <a:off x="868680" y="1691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13</a:t>
            </a:r>
            <a:endParaRPr lang="en-US" sz="5400" dirty="0"/>
          </a:p>
        </p:txBody>
      </p:sp>
      <p:sp>
        <p:nvSpPr>
          <p:cNvPr id="6" name="Stat label 1"/>
          <p:cNvSpPr txBox="1"/>
          <p:nvPr/>
        </p:nvSpPr>
        <p:spPr>
          <a:xfrm>
            <a:off x="86868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ekranów dla mieszkańców, moderatorów, wykonawców i administratorów</a:t>
            </a:r>
            <a:endParaRPr lang="en-US" sz="1500" dirty="0"/>
          </a:p>
        </p:txBody>
      </p:sp>
      <p:sp>
        <p:nvSpPr>
          <p:cNvPr id="7" name="Stat card 2"/>
          <p:cNvSpPr/>
          <p:nvPr/>
        </p:nvSpPr>
        <p:spPr>
          <a:xfrm>
            <a:off x="4334256" y="1508760"/>
            <a:ext cx="352044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8" name="Stat 2"/>
          <p:cNvSpPr txBox="1"/>
          <p:nvPr/>
        </p:nvSpPr>
        <p:spPr>
          <a:xfrm>
            <a:off x="4654296" y="1691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9" name="Stat label 2"/>
          <p:cNvSpPr txBox="1"/>
          <p:nvPr/>
        </p:nvSpPr>
        <p:spPr>
          <a:xfrm>
            <a:off x="4654296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języki: polski, angielski i ukraiński</a:t>
            </a:r>
            <a:endParaRPr lang="en-US" sz="1500" dirty="0"/>
          </a:p>
        </p:txBody>
      </p:sp>
      <p:sp>
        <p:nvSpPr>
          <p:cNvPr id="10" name="Stat card 3"/>
          <p:cNvSpPr/>
          <p:nvPr/>
        </p:nvSpPr>
        <p:spPr>
          <a:xfrm>
            <a:off x="8119872" y="1508760"/>
            <a:ext cx="352044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1" name="Stat 3"/>
          <p:cNvSpPr txBox="1"/>
          <p:nvPr/>
        </p:nvSpPr>
        <p:spPr>
          <a:xfrm>
            <a:off x="8439912" y="1691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31</a:t>
            </a:r>
            <a:endParaRPr lang="en-US" sz="5400" dirty="0"/>
          </a:p>
        </p:txBody>
      </p:sp>
      <p:sp>
        <p:nvSpPr>
          <p:cNvPr id="12" name="Stat label 3"/>
          <p:cNvSpPr txBox="1"/>
          <p:nvPr/>
        </p:nvSpPr>
        <p:spPr>
          <a:xfrm>
            <a:off x="8439912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endpointów REST API z dokumentacją OpenAPI</a:t>
            </a:r>
            <a:endParaRPr lang="en-US" sz="1500" dirty="0"/>
          </a:p>
        </p:txBody>
      </p:sp>
      <p:sp>
        <p:nvSpPr>
          <p:cNvPr id="13" name="Stat card 4"/>
          <p:cNvSpPr/>
          <p:nvPr/>
        </p:nvSpPr>
        <p:spPr>
          <a:xfrm>
            <a:off x="548640" y="3611880"/>
            <a:ext cx="352044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4" name="Stat 4"/>
          <p:cNvSpPr txBox="1"/>
          <p:nvPr/>
        </p:nvSpPr>
        <p:spPr>
          <a:xfrm>
            <a:off x="868680" y="3794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</a:t>
            </a:r>
            <a:endParaRPr lang="en-US" sz="5400" dirty="0"/>
          </a:p>
        </p:txBody>
      </p:sp>
      <p:sp>
        <p:nvSpPr>
          <p:cNvPr id="15" name="Stat label 4"/>
          <p:cNvSpPr txBox="1"/>
          <p:nvPr/>
        </p:nvSpPr>
        <p:spPr>
          <a:xfrm>
            <a:off x="868680" y="4663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przykładowe społeczności i 8 sprawdzonych scenariuszy</a:t>
            </a:r>
            <a:endParaRPr lang="en-US" sz="1500" dirty="0"/>
          </a:p>
        </p:txBody>
      </p:sp>
      <p:sp>
        <p:nvSpPr>
          <p:cNvPr id="16" name="Stat card 5"/>
          <p:cNvSpPr/>
          <p:nvPr/>
        </p:nvSpPr>
        <p:spPr>
          <a:xfrm>
            <a:off x="4334256" y="3611880"/>
            <a:ext cx="352044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7" name="Stat 5"/>
          <p:cNvSpPr txBox="1"/>
          <p:nvPr/>
        </p:nvSpPr>
        <p:spPr>
          <a:xfrm>
            <a:off x="4654296" y="3794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18</a:t>
            </a:r>
            <a:endParaRPr lang="en-US" sz="5400" dirty="0"/>
          </a:p>
        </p:txBody>
      </p:sp>
      <p:sp>
        <p:nvSpPr>
          <p:cNvPr id="18" name="Stat label 5"/>
          <p:cNvSpPr txBox="1"/>
          <p:nvPr/>
        </p:nvSpPr>
        <p:spPr>
          <a:xfrm>
            <a:off x="4654296" y="4663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typów zdarzeń na żywo: każda zmiana od razu na ekranie</a:t>
            </a:r>
            <a:endParaRPr lang="en-US" sz="1500" dirty="0"/>
          </a:p>
        </p:txBody>
      </p:sp>
      <p:sp>
        <p:nvSpPr>
          <p:cNvPr id="19" name="Stat card 6"/>
          <p:cNvSpPr/>
          <p:nvPr/>
        </p:nvSpPr>
        <p:spPr>
          <a:xfrm>
            <a:off x="8119872" y="3611880"/>
            <a:ext cx="352044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20" name="Stat 6"/>
          <p:cNvSpPr txBox="1"/>
          <p:nvPr/>
        </p:nvSpPr>
        <p:spPr>
          <a:xfrm>
            <a:off x="8439912" y="3794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~15 tys.</a:t>
            </a:r>
            <a:endParaRPr lang="en-US" sz="5400" dirty="0"/>
          </a:p>
        </p:txBody>
      </p:sp>
      <p:sp>
        <p:nvSpPr>
          <p:cNvPr id="21" name="Stat label 6"/>
          <p:cNvSpPr txBox="1"/>
          <p:nvPr/>
        </p:nvSpPr>
        <p:spPr>
          <a:xfrm>
            <a:off x="8439912" y="4663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linii kodu: Java, TypeScript i SQL</a:t>
            </a:r>
            <a:endParaRPr lang="en-US" sz="1500" dirty="0"/>
          </a:p>
        </p:txBody>
      </p:sp>
      <p:sp>
        <p:nvSpPr>
          <p:cNvPr id="22" name="Repo link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Cały kod jest publiczny: </a:t>
            </a:r>
            <a:pPr indent="0" marL="0">
              <a:buNone/>
            </a:pPr>
            <a:r>
              <a:rPr lang="en-US" sz="1500" b="1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github.com/seelso-net/hackyeah-2026-malopolska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CEL I KOLEJNE KROKI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Cel: żadna dobra praktyka nie ginie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548640" y="160020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Każda rozwiązana sprawa ma zostawiać sprawdzony scenariusz, z którego skorzysta kolejna gmina, dzielnica czy organizacja – w Małopolsce i poza nią.</a:t>
            </a:r>
            <a:endParaRPr lang="en-US" sz="2100" dirty="0"/>
          </a:p>
        </p:txBody>
      </p:sp>
      <p:sp>
        <p:nvSpPr>
          <p:cNvPr id="5" name="Circle LuTimer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LuTim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621024"/>
            <a:ext cx="256032" cy="256032"/>
          </a:xfrm>
          <a:prstGeom prst="rect">
            <a:avLst/>
          </a:prstGeom>
        </p:spPr>
      </p:pic>
      <p:sp>
        <p:nvSpPr>
          <p:cNvPr id="7" name="Outcome 1"/>
          <p:cNvSpPr txBox="1"/>
          <p:nvPr/>
        </p:nvSpPr>
        <p:spPr>
          <a:xfrm>
            <a:off x="118872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Szybciej od zgłoszenia do pomocy</a:t>
            </a:r>
            <a:endParaRPr lang="en-US" sz="1600" dirty="0"/>
          </a:p>
        </p:txBody>
      </p:sp>
      <p:sp>
        <p:nvSpPr>
          <p:cNvPr id="8" name="Circle LuEye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LuEy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4352544"/>
            <a:ext cx="256032" cy="256032"/>
          </a:xfrm>
          <a:prstGeom prst="rect">
            <a:avLst/>
          </a:prstGeom>
        </p:spPr>
      </p:pic>
      <p:sp>
        <p:nvSpPr>
          <p:cNvPr id="10" name="Outcome 2"/>
          <p:cNvSpPr txBox="1"/>
          <p:nvPr/>
        </p:nvSpPr>
        <p:spPr>
          <a:xfrm>
            <a:off x="118872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Urząd widzi skalę potrzeb zamiast duplikatów</a:t>
            </a:r>
            <a:endParaRPr lang="en-US" sz="1600" dirty="0"/>
          </a:p>
        </p:txBody>
      </p:sp>
      <p:sp>
        <p:nvSpPr>
          <p:cNvPr id="11" name="Circle LuUsers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 LuUs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084064"/>
            <a:ext cx="256032" cy="256032"/>
          </a:xfrm>
          <a:prstGeom prst="rect">
            <a:avLst/>
          </a:prstGeom>
        </p:spPr>
      </p:pic>
      <p:sp>
        <p:nvSpPr>
          <p:cNvPr id="13" name="Outcome 3"/>
          <p:cNvSpPr txBox="1"/>
          <p:nvPr/>
        </p:nvSpPr>
        <p:spPr>
          <a:xfrm>
            <a:off x="118872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Organizacje i wolontariusze tam, gdzie są potrzebni</a:t>
            </a:r>
            <a:endParaRPr lang="en-US" sz="1600" dirty="0"/>
          </a:p>
        </p:txBody>
      </p:sp>
      <p:sp>
        <p:nvSpPr>
          <p:cNvPr id="14" name="Roadmap card"/>
          <p:cNvSpPr/>
          <p:nvPr/>
        </p:nvSpPr>
        <p:spPr>
          <a:xfrm>
            <a:off x="6400800" y="1463040"/>
            <a:ext cx="5239512" cy="4617720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5212C">
                <a:alpha val="12000"/>
              </a:srgbClr>
            </a:outerShdw>
          </a:effectLst>
        </p:spPr>
      </p:sp>
      <p:sp>
        <p:nvSpPr>
          <p:cNvPr id="15" name="Roadmap line"/>
          <p:cNvSpPr/>
          <p:nvPr/>
        </p:nvSpPr>
        <p:spPr>
          <a:xfrm>
            <a:off x="6949440" y="2011680"/>
            <a:ext cx="0" cy="3154680"/>
          </a:xfrm>
          <a:prstGeom prst="line">
            <a:avLst/>
          </a:prstGeom>
          <a:noFill/>
          <a:ln w="38100">
            <a:solidFill>
              <a:srgbClr val="E3F1ED"/>
            </a:solidFill>
            <a:prstDash val="solid"/>
          </a:ln>
        </p:spPr>
      </p:sp>
      <p:sp>
        <p:nvSpPr>
          <p:cNvPr id="16" name="Number 1"/>
          <p:cNvSpPr txBox="1"/>
          <p:nvPr/>
        </p:nvSpPr>
        <p:spPr>
          <a:xfrm>
            <a:off x="672084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Heading Pilotaż"/>
          <p:cNvSpPr txBox="1"/>
          <p:nvPr/>
        </p:nvSpPr>
        <p:spPr>
          <a:xfrm>
            <a:off x="7360920" y="1764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Pilotaż</a:t>
            </a:r>
            <a:endParaRPr lang="en-US" sz="1700" dirty="0"/>
          </a:p>
        </p:txBody>
      </p:sp>
      <p:sp>
        <p:nvSpPr>
          <p:cNvPr id="18" name="Text Pilotaż"/>
          <p:cNvSpPr txBox="1"/>
          <p:nvPr/>
        </p:nvSpPr>
        <p:spPr>
          <a:xfrm>
            <a:off x="7360920" y="21305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Jedna gmina lub dzielnica razem z urzędem i lokalnymi organizacjami</a:t>
            </a:r>
            <a:endParaRPr lang="en-US" sz="1400" dirty="0"/>
          </a:p>
        </p:txBody>
      </p:sp>
      <p:sp>
        <p:nvSpPr>
          <p:cNvPr id="19" name="Number 2"/>
          <p:cNvSpPr txBox="1"/>
          <p:nvPr/>
        </p:nvSpPr>
        <p:spPr>
          <a:xfrm>
            <a:off x="672084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Heading Logowanie przez login.gov.pl"/>
          <p:cNvSpPr txBox="1"/>
          <p:nvPr/>
        </p:nvSpPr>
        <p:spPr>
          <a:xfrm>
            <a:off x="7360920" y="2816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Logowanie przez login.gov.pl</a:t>
            </a:r>
            <a:endParaRPr lang="en-US" sz="1700" dirty="0"/>
          </a:p>
        </p:txBody>
      </p:sp>
      <p:sp>
        <p:nvSpPr>
          <p:cNvPr id="21" name="Text Logowanie przez login.gov.pl"/>
          <p:cNvSpPr txBox="1"/>
          <p:nvPr/>
        </p:nvSpPr>
        <p:spPr>
          <a:xfrm>
            <a:off x="7360920" y="3182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Zamiast logowania demonstracyjnego</a:t>
            </a:r>
            <a:endParaRPr lang="en-US" sz="1400" dirty="0"/>
          </a:p>
        </p:txBody>
      </p:sp>
      <p:sp>
        <p:nvSpPr>
          <p:cNvPr id="22" name="Number 3"/>
          <p:cNvSpPr txBox="1"/>
          <p:nvPr/>
        </p:nvSpPr>
        <p:spPr>
          <a:xfrm>
            <a:off x="672084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Heading Wspólna biblioteka scenariuszy"/>
          <p:cNvSpPr txBox="1"/>
          <p:nvPr/>
        </p:nvSpPr>
        <p:spPr>
          <a:xfrm>
            <a:off x="7360920" y="38679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Wspólna biblioteka scenariuszy</a:t>
            </a:r>
            <a:endParaRPr lang="en-US" sz="1700" dirty="0"/>
          </a:p>
        </p:txBody>
      </p:sp>
      <p:sp>
        <p:nvSpPr>
          <p:cNvPr id="24" name="Text Wspólna biblioteka scenariuszy"/>
          <p:cNvSpPr txBox="1"/>
          <p:nvPr/>
        </p:nvSpPr>
        <p:spPr>
          <a:xfrm>
            <a:off x="7360920" y="42336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Jedna dla wielu gmin w regionie</a:t>
            </a:r>
            <a:endParaRPr lang="en-US" sz="1400" dirty="0"/>
          </a:p>
        </p:txBody>
      </p:sp>
      <p:sp>
        <p:nvSpPr>
          <p:cNvPr id="25" name="Number 4"/>
          <p:cNvSpPr txBox="1"/>
          <p:nvPr/>
        </p:nvSpPr>
        <p:spPr>
          <a:xfrm>
            <a:off x="6720840" y="4937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Heading Mierniki efektów"/>
          <p:cNvSpPr txBox="1"/>
          <p:nvPr/>
        </p:nvSpPr>
        <p:spPr>
          <a:xfrm>
            <a:off x="7360920" y="4919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Mierniki efektów</a:t>
            </a:r>
            <a:endParaRPr lang="en-US" sz="1700" dirty="0"/>
          </a:p>
        </p:txBody>
      </p:sp>
      <p:sp>
        <p:nvSpPr>
          <p:cNvPr id="27" name="Text Mierniki efektów"/>
          <p:cNvSpPr txBox="1"/>
          <p:nvPr/>
        </p:nvSpPr>
        <p:spPr>
          <a:xfrm>
            <a:off x="7360920" y="5285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Czas do pomocy i odsetek odpowiedzi „pomogło”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64224"/>
            <a:ext cx="64008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 panel"/>
          <p:cNvSpPr/>
          <p:nvPr/>
        </p:nvSpPr>
        <p:spPr>
          <a:xfrm>
            <a:off x="6720840" y="0"/>
            <a:ext cx="5470855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Panel circle"/>
          <p:cNvSpPr/>
          <p:nvPr/>
        </p:nvSpPr>
        <p:spPr>
          <a:xfrm>
            <a:off x="9326880" y="4434840"/>
            <a:ext cx="4023360" cy="4023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Phone phone-map.png" descr="Mapa potrzeb w okoli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914400"/>
            <a:ext cx="2505263" cy="4937760"/>
          </a:xfrm>
          <a:prstGeom prst="rect">
            <a:avLst/>
          </a:prstGeom>
        </p:spPr>
      </p:pic>
      <p:pic>
        <p:nvPicPr>
          <p:cNvPr id="5" name="Phone phone-ideas.png" descr="Biblioteka sprawdzonych pomysłó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417320"/>
            <a:ext cx="2273295" cy="4480560"/>
          </a:xfrm>
          <a:prstGeom prst="rect">
            <a:avLst/>
          </a:prstGeom>
        </p:spPr>
      </p:pic>
      <p:pic>
        <p:nvPicPr>
          <p:cNvPr id="6" name="Logo" descr="Logo Neighbourhood Nee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7" name="Brand name"/>
          <p:cNvSpPr txBox="1"/>
          <p:nvPr/>
        </p:nvSpPr>
        <p:spPr>
          <a:xfrm>
            <a:off x="1234440" y="502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Neighbourhood Needs</a:t>
            </a:r>
            <a:endParaRPr lang="en-US" sz="2000" dirty="0"/>
          </a:p>
        </p:txBody>
      </p:sp>
      <p:sp>
        <p:nvSpPr>
          <p:cNvPr id="8" name="Pill HackYeah 2026"/>
          <p:cNvSpPr txBox="1"/>
          <p:nvPr/>
        </p:nvSpPr>
        <p:spPr>
          <a:xfrm>
            <a:off x="4480560" y="585216"/>
            <a:ext cx="164592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0A2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HackYeah 2026</a:t>
            </a:r>
            <a:endParaRPr lang="en-US" sz="14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48640" y="160020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Dobre pomysły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nie giną</a:t>
            </a:r>
            <a:endParaRPr lang="en-US" sz="60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548640" y="38404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Dziękujemy! Kod, instrukcja i demo są gotowe do uruchomienia.</a:t>
            </a:r>
            <a:endParaRPr lang="en-US" sz="2000" dirty="0"/>
          </a:p>
        </p:txBody>
      </p:sp>
      <p:pic>
        <p:nvPicPr>
          <p:cNvPr id="11" name="GitHub icon" descr="GitHu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230368"/>
            <a:ext cx="384048" cy="384048"/>
          </a:xfrm>
          <a:prstGeom prst="rect">
            <a:avLst/>
          </a:prstGeom>
        </p:spPr>
      </p:pic>
      <p:sp>
        <p:nvSpPr>
          <p:cNvPr id="12" name="Repo link"/>
          <p:cNvSpPr txBox="1"/>
          <p:nvPr/>
        </p:nvSpPr>
        <p:spPr>
          <a:xfrm>
            <a:off x="1051560" y="521208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github.com/seelso-net/hackyeah-2026-malopolska</a:t>
            </a:r>
            <a:endParaRPr lang="en-US" sz="1800" dirty="0"/>
          </a:p>
        </p:txBody>
      </p:sp>
      <p:sp>
        <p:nvSpPr>
          <p:cNvPr id="13" name="Run hint"/>
          <p:cNvSpPr txBox="1"/>
          <p:nvPr/>
        </p:nvSpPr>
        <p:spPr>
          <a:xfrm>
            <a:off x="1051560" y="5715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Uruchomienie u siebie: docker compose up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ighbourhood Needs">
  <a:themeElements>
    <a:clrScheme name="Neighbourhood Needs">
      <a:dk1>
        <a:srgbClr val="15212C"/>
      </a:dk1>
      <a:lt1>
        <a:srgbClr val="FFFFFF"/>
      </a:lt1>
      <a:dk2>
        <a:srgbClr val="0B6B58"/>
      </a:dk2>
      <a:lt2>
        <a:srgbClr val="F2F4F6"/>
      </a:lt2>
      <a:accent1>
        <a:srgbClr val="0B6B58"/>
      </a:accent1>
      <a:accent2>
        <a:srgbClr val="F0A23A"/>
      </a:accent2>
      <a:accent3>
        <a:srgbClr val="08503F"/>
      </a:accent3>
      <a:accent4>
        <a:srgbClr val="E3F1ED"/>
      </a:accent4>
      <a:accent5>
        <a:srgbClr val="52606D"/>
      </a:accent5>
      <a:accent6>
        <a:srgbClr val="8A4B00"/>
      </a:accent6>
      <a:hlink>
        <a:srgbClr val="0B6B58"/>
      </a:hlink>
      <a:folHlink>
        <a:srgbClr val="08503F"/>
      </a:folHlink>
    </a:clrScheme>
    <a:fontScheme name="Neighbourhood Need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Neighbourhood Needs – Dobre pomysły nie giną</dc:title>
  <dc:subject>HackYeah 2026</dc:subject>
  <dc:creator>Zespół Neighbourhood Needs</dc:creator>
  <cp:lastModifiedBy>Zespół Neighbourhood Needs</cp:lastModifiedBy>
  <cp:revision>1</cp:revision>
  <dcterms:created xsi:type="dcterms:W3CDTF">2026-10-03T17:33:36Z</dcterms:created>
  <dcterms:modified xsi:type="dcterms:W3CDTF">2026-10-03T17:33:36Z</dcterms:modified>
</cp:coreProperties>
</file>